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1000"/>
              </a:spcAft>
            </a:pPr>
            <a:r>
              <a:rPr sz="2000" b="1">
                <a:solidFill>
                  <a:srgbClr val="9FC1FF"/>
                </a:solidFill>
                <a:latin typeface="Arial"/>
              </a:rPr>
              <a:t>SIGMA DIGITAL TWINS</a:t>
            </a:r>
          </a:p>
          <a:p>
            <a:pPr rtl="1" algn="r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الفريق المقترح</a:t>
            </a:r>
          </a:p>
          <a:p>
            <a:pPr rtl="1" algn="r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مشروع استخلاص المعادن — الدقم، عُمان</a:t>
            </a:r>
          </a:p>
          <a:p>
            <a:pPr rtl="1" algn="r">
              <a:spcAft>
                <a:spcPts val="200"/>
              </a:spcAft>
            </a:pPr>
            <a:r>
              <a:rPr sz="1400" b="0">
                <a:solidFill>
                  <a:srgbClr val="C8D8F5"/>
                </a:solidFill>
                <a:latin typeface="Arial"/>
              </a:rPr>
              <a:t>دراسة مفاهيمية + هندسة أساسية · يوليو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400"/>
              </a:spcAft>
            </a:pPr>
            <a:r>
              <a:rPr sz="1200" b="1">
                <a:solidFill>
                  <a:srgbClr val="9FC1FF"/>
                </a:solidFill>
                <a:latin typeface="Arial"/>
              </a:rPr>
              <a:t>إعداد Jorge Juri · Hefesto AI  ·  مراجعة Mauricio Contreras</a:t>
            </a:r>
          </a:p>
          <a:p>
            <a:pPr rtl="1" algn="r">
              <a:spcAft>
                <a:spcPts val="200"/>
              </a:spcAft>
            </a:pPr>
            <a:r>
              <a:rPr sz="1100" b="0">
                <a:solidFill>
                  <a:srgbClr val="C8D8F5"/>
                </a:solidFill>
                <a:latin typeface="Arial"/>
              </a:rPr>
              <a:t>سرّي — أُعدّ لصالح HLC / Tonino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200"/>
              </a:spcAft>
            </a:pPr>
            <a:r>
              <a:rPr sz="2600" b="1">
                <a:solidFill>
                  <a:srgbClr val="0B3D91"/>
                </a:solidFill>
                <a:latin typeface="Arial"/>
              </a:rPr>
              <a:t>الهيكل التنظيمي للفريق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67048" y="777240"/>
            <a:ext cx="36576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60000" rIns="60000"/>
          <a:lstStyle/>
          <a:p>
            <a:pPr algn="ctr" rtl="1">
              <a:spcAft>
                <a:spcPts val="100"/>
              </a:spcAft>
            </a:pPr>
            <a:r>
              <a:rPr sz="1100" b="1">
                <a:solidFill>
                  <a:srgbClr val="141B26"/>
                </a:solidFill>
                <a:latin typeface="Arial"/>
              </a:rPr>
              <a:t>العميل — عُمان</a:t>
            </a:r>
          </a:p>
          <a:p>
            <a:pPr algn="ctr" rtl="1">
              <a:spcAft>
                <a:spcPts val="200"/>
              </a:spcAft>
            </a:pPr>
            <a:r>
              <a:rPr sz="1000" b="0">
                <a:solidFill>
                  <a:srgbClr val="5B6676"/>
                </a:solidFill>
                <a:latin typeface="Arial"/>
              </a:rPr>
              <a:t>عبر HLC · Tonino (الراعي)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848" y="1344168"/>
            <a:ext cx="0" cy="13716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267048" y="1481328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0B3D91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60000" rIns="60000"/>
          <a:lstStyle/>
          <a:p>
            <a:pPr algn="ctr" rtl="1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المدير</a:t>
            </a:r>
          </a:p>
          <a:p>
            <a:pPr algn="ctr" rtl="1"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Arial"/>
              </a:rPr>
              <a:t>Mauricio Contreras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5848" y="2167128"/>
            <a:ext cx="0" cy="22860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63928" y="2395728"/>
            <a:ext cx="7863840" cy="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63928" y="2395728"/>
            <a:ext cx="0" cy="18288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5848" y="2395728"/>
            <a:ext cx="0" cy="18288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27768" y="2395728"/>
            <a:ext cx="0" cy="18288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7988" y="2578608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200000" rIns="60000"/>
          <a:lstStyle/>
          <a:p>
            <a:pPr algn="ctr" rtl="1">
              <a:spcAft>
                <a:spcPts val="100"/>
              </a:spcAft>
            </a:pPr>
            <a:r>
              <a:rPr sz="1150" b="1">
                <a:solidFill>
                  <a:srgbClr val="141B26"/>
                </a:solidFill>
                <a:latin typeface="Arial"/>
              </a:rPr>
              <a:t>قائد المشروع — الميتالورجيا</a:t>
            </a:r>
          </a:p>
          <a:p>
            <a:pPr algn="ctr" rtl="1">
              <a:spcAft>
                <a:spcPts val="200"/>
              </a:spcAft>
            </a:pPr>
            <a:r>
              <a:rPr sz="1050" b="0">
                <a:solidFill>
                  <a:srgbClr val="5B6676"/>
                </a:solidFill>
                <a:latin typeface="Arial"/>
              </a:rPr>
              <a:t>Luis García Medina (Messi)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88" y="2718608"/>
            <a:ext cx="70000" cy="58868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89908" y="2578608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200000" rIns="60000"/>
          <a:lstStyle/>
          <a:p>
            <a:pPr algn="ctr" rtl="1">
              <a:spcAft>
                <a:spcPts val="100"/>
              </a:spcAft>
            </a:pPr>
            <a:r>
              <a:rPr sz="1150" b="1">
                <a:solidFill>
                  <a:srgbClr val="141B26"/>
                </a:solidFill>
                <a:latin typeface="Arial"/>
              </a:rPr>
              <a:t>رئيس الصيانة والموثوقية</a:t>
            </a:r>
          </a:p>
          <a:p>
            <a:pPr algn="ctr" rtl="1">
              <a:spcAft>
                <a:spcPts val="200"/>
              </a:spcAft>
            </a:pPr>
            <a:r>
              <a:rPr sz="1050" b="0">
                <a:solidFill>
                  <a:srgbClr val="5B6676"/>
                </a:solidFill>
                <a:latin typeface="Arial"/>
              </a:rPr>
              <a:t>Juan Carlos Ramírez (JC)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9908" y="2718608"/>
            <a:ext cx="70000" cy="58868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1828" y="2578608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200000" rIns="60000"/>
          <a:lstStyle/>
          <a:p>
            <a:pPr algn="ctr" rtl="1">
              <a:spcAft>
                <a:spcPts val="100"/>
              </a:spcAft>
            </a:pPr>
            <a:r>
              <a:rPr sz="1150" b="1">
                <a:solidFill>
                  <a:srgbClr val="141B26"/>
                </a:solidFill>
                <a:latin typeface="Arial"/>
              </a:rPr>
              <a:t>مكتب إدارة المشاريع بالذكاء الاصطناعي</a:t>
            </a:r>
          </a:p>
          <a:p>
            <a:pPr algn="ctr" rtl="1">
              <a:spcAft>
                <a:spcPts val="200"/>
              </a:spcAft>
            </a:pPr>
            <a:r>
              <a:rPr sz="1050" b="0">
                <a:solidFill>
                  <a:srgbClr val="5B6676"/>
                </a:solidFill>
                <a:latin typeface="Arial"/>
              </a:rPr>
              <a:t>Autopilot · Jorge Juri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1828" y="2718608"/>
            <a:ext cx="70000" cy="58868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163928" y="3447288"/>
            <a:ext cx="0" cy="466344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97000" y="3913632"/>
            <a:ext cx="566928" cy="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97000" y="3913632"/>
            <a:ext cx="0" cy="246888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5848" y="3447288"/>
            <a:ext cx="0" cy="466344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96232" y="3913632"/>
            <a:ext cx="2999232" cy="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96232" y="3913632"/>
            <a:ext cx="0" cy="246888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595464" y="3913632"/>
            <a:ext cx="0" cy="246888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027768" y="3447288"/>
            <a:ext cx="0" cy="466344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27768" y="3913632"/>
            <a:ext cx="566928" cy="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594696" y="3913632"/>
            <a:ext cx="0" cy="246888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25400" y="416052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200000" rIns="60000"/>
          <a:lstStyle/>
          <a:p>
            <a:pPr algn="ctr" rtl="1">
              <a:spcAft>
                <a:spcPts val="100"/>
              </a:spcAft>
            </a:pPr>
            <a:r>
              <a:rPr sz="1000" b="1">
                <a:solidFill>
                  <a:srgbClr val="141B26"/>
                </a:solidFill>
                <a:latin typeface="Arial"/>
              </a:rPr>
              <a:t>الميتالورجيا · خبير إعادة التدوير · مستشار البيئة / HSEC — عُمان</a:t>
            </a:r>
          </a:p>
          <a:p>
            <a:pPr algn="ctr" rtl="1">
              <a:spcAft>
                <a:spcPts val="200"/>
              </a:spcAft>
            </a:pPr>
            <a:r>
              <a:rPr sz="950" b="0">
                <a:solidFill>
                  <a:srgbClr val="5B6676"/>
                </a:solidFill>
                <a:latin typeface="Arial"/>
              </a:rPr>
              <a:t>Kent Christie (يوتا، الولايات المتحدة)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5400" y="4300520"/>
            <a:ext cx="70000" cy="77156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24632" y="416052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200000" rIns="60000"/>
          <a:lstStyle/>
          <a:p>
            <a:pPr algn="ctr" rtl="1">
              <a:spcAft>
                <a:spcPts val="100"/>
              </a:spcAft>
            </a:pPr>
            <a:r>
              <a:rPr sz="1000" b="1">
                <a:solidFill>
                  <a:srgbClr val="141B26"/>
                </a:solidFill>
                <a:latin typeface="Arial"/>
              </a:rPr>
              <a:t>مصمم صناعي ثلاثي الأبعاد</a:t>
            </a:r>
          </a:p>
          <a:p>
            <a:pPr algn="ctr" rtl="1">
              <a:spcAft>
                <a:spcPts val="200"/>
              </a:spcAft>
            </a:pPr>
            <a:r>
              <a:rPr sz="950" b="0">
                <a:solidFill>
                  <a:srgbClr val="5B6676"/>
                </a:solidFill>
                <a:latin typeface="Arial"/>
              </a:rPr>
              <a:t>Juan Pablo Hidalgo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04632" y="4300520"/>
            <a:ext cx="70000" cy="77156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23864" y="416052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200000" rIns="60000"/>
          <a:lstStyle/>
          <a:p>
            <a:pPr algn="ctr" rtl="1">
              <a:spcAft>
                <a:spcPts val="100"/>
              </a:spcAft>
            </a:pPr>
            <a:r>
              <a:rPr sz="1000" b="1">
                <a:solidFill>
                  <a:srgbClr val="141B26"/>
                </a:solidFill>
                <a:latin typeface="Arial"/>
              </a:rPr>
              <a:t>الصيانة الميكانيكية</a:t>
            </a:r>
          </a:p>
          <a:p>
            <a:pPr algn="ctr" rtl="1">
              <a:spcAft>
                <a:spcPts val="200"/>
              </a:spcAft>
            </a:pPr>
            <a:r>
              <a:rPr sz="950" b="0">
                <a:solidFill>
                  <a:srgbClr val="5B6676"/>
                </a:solidFill>
                <a:latin typeface="Arial"/>
              </a:rPr>
              <a:t>Ángelo Urrutia Tapia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3864" y="4300520"/>
            <a:ext cx="70000" cy="77156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23096" y="416052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200000" rIns="60000"/>
          <a:lstStyle/>
          <a:p>
            <a:pPr algn="ctr" rtl="1">
              <a:spcAft>
                <a:spcPts val="100"/>
              </a:spcAft>
            </a:pPr>
            <a:r>
              <a:rPr sz="1000" b="1">
                <a:solidFill>
                  <a:srgbClr val="141B26"/>
                </a:solidFill>
                <a:latin typeface="Arial"/>
              </a:rPr>
              <a:t>محلّلة الجودة</a:t>
            </a:r>
          </a:p>
          <a:p>
            <a:pPr algn="ctr" rtl="1">
              <a:spcAft>
                <a:spcPts val="200"/>
              </a:spcAft>
            </a:pPr>
            <a:r>
              <a:rPr sz="950" b="0">
                <a:solidFill>
                  <a:srgbClr val="5B6676"/>
                </a:solidFill>
                <a:latin typeface="Arial"/>
              </a:rPr>
              <a:t>Paloma Tapia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03096" y="4300520"/>
            <a:ext cx="70000" cy="77156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25400" y="5623560"/>
            <a:ext cx="11740896" cy="5029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spcAft>
                <a:spcPts val="200"/>
              </a:spcAft>
            </a:pPr>
            <a:r>
              <a:rPr sz="1000" b="0">
                <a:solidFill>
                  <a:srgbClr val="5B6676"/>
                </a:solidFill>
                <a:latin typeface="Arial"/>
              </a:rPr>
              <a:t>عرضي: القانون / الامتثال — Pertel Legal · الإنتاج: الرسومات والوثائق و P&amp;IDs والأنابيب والنماذج ثلاثية الأبعاد وحزمة العميل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1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Mauricio Contreras</a:t>
            </a:r>
          </a:p>
          <a:p>
            <a:pPr rtl="1" algn="r"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Arial"/>
              </a:rPr>
              <a:t>المدير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السيرة الذاتية</a:t>
            </a:r>
          </a:p>
          <a:p>
            <a:pPr algn="r" rtl="1">
              <a:spcAft>
                <a:spcPts val="100"/>
              </a:spcAft>
            </a:pPr>
            <a:r>
              <a:rPr sz="950" b="0">
                <a:solidFill>
                  <a:srgbClr val="C8D8F5"/>
                </a:solidFill>
                <a:latin typeface="Arial"/>
              </a:rPr>
              <a:t>الجنسية: تشيلي</a:t>
            </a:r>
          </a:p>
          <a:p>
            <a:pPr algn="r" rtl="1">
              <a:spcAft>
                <a:spcPts val="200"/>
              </a:spcAft>
            </a:pPr>
            <a:r>
              <a:rPr sz="950" b="0">
                <a:solidFill>
                  <a:srgbClr val="C8D8F5"/>
                </a:solidFill>
                <a:latin typeface="Arial"/>
              </a:rPr>
              <a:t>الإقامة: تشيلي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5321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2971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اللغات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الإسبانية · الإنجليزية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20240"/>
            <a:ext cx="297180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التعليم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2025 · ماجستير في الأتمتة الصناعية وتكامل SCADA — جامعة لوخا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2024 · هندسة صناعية مدنية — جامعة لاس أميريكاس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2003–2005 · هندسة الوقاية من المخاطر والبيئة — جامعة أكونكاغوا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1998–2002 · مهندس عمليات ميتالورجية — جامعة سانتياغو دي تشيلي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14800"/>
            <a:ext cx="29718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الخبرة حسب الصناعة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تعدين النحاس والذهب في تشيلي وكولومبيا وأستراليا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تشغيل مصانع التركيز والعمليات الميتالورجية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الصيانة الصناعية لمعدات التعدين الكبرى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مشاريع الأتمتة و SCADA في مصانع معالجة المعادن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السلامة الصناعية والإدارة البيئية في مواقع التعدين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07008"/>
            <a:ext cx="411480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الخبرة المهنية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2022–2023 · رئيس أكوام التخزين والمخلفات والمياه — Goldfields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2021–2022 · مشرف صيانة عام — FLSmidth، منجم Centinela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2021 · مشرف صيانة — Macep (Teck Andacollo، Caserones، Sierra Gorda)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2020–2021 · مدير عقد، عمليات المصنع — Collahuasi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2019–2020 · مدير عقد، عمليات المصنع — منجم Zaldívar (AMSA)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2017–2019 · مشرف عمليات المنجم والمصنع — Continental Gold، Buriticá (كولومبيا)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2012–2014 · مشرف وردية المصنع والمصفاة — Kinross Maricunga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434840"/>
            <a:ext cx="4114800" cy="2240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الكفاءات الأساسية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القيادة في عمليات التعدين والصيانة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إدارة المشاريع في التعدين ومصانع التركيز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تحسين العمليات التشغيلية وتطوير العمليات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مراقبة التكاليف وتحليل الربحية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أتمتة العمليات والتحكم بها (SCADA)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لوائح السلامة والبيئة في التعدين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143000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5875">
            <a:solidFill>
              <a:srgbClr val="0E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52728"/>
            <a:ext cx="3703320" cy="2148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0E7C5A"/>
                </a:solidFill>
                <a:latin typeface="Arial"/>
              </a:rPr>
              <a:t>🎯 القيمة المضافة للمشروع — الدقم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يقود الدراسة من البداية إلى النهاية: مهندس عمليات ميتالورجية بخبرة تتجاوز 20 عامًا في تشغيل وصيانة مصانع التعدين الكبرى.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تشغيل وبدء تشغيل مصانع حقيقية (الترشيح، التثخين، مخلفات المعالجة): تُصمَّم الدراسة مع مراعاة التشغيل.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جهة الاتصال التقنية الوحيدة أمام العميل والشركاء (HLC / Tonino).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393192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المشاريع الرئيسية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الهندسة التفصيلية وتركيب مثخّن المخلفات HD — Capstone Copper، Mantos Blancos (المشروع 24-286): التخطيط والإدارة والتنفيذ.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تحسين مصانع التركيز: رفع استخلاص المعادن وخفض التكاليف عبر التحكم والأتمتة.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تشغيل وبدء تشغيل مصانع الترشيح والتثخين والمخلفات.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إدارة مشاريع تعدين دولية: مناجم تحت الأرض ومكشوفة في تشيلي وكولومبيا وأستراليا.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1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Jorge Juri</a:t>
            </a:r>
          </a:p>
          <a:p>
            <a:pPr rtl="1" algn="r"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Arial"/>
              </a:rPr>
              <a:t>مكتب إدارة المشاريع بالذكاء الاصطناعي — Autopilot (مدير المشروع · التوأم الرقمي)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السيرة الذاتية</a:t>
            </a:r>
          </a:p>
          <a:p>
            <a:pPr algn="r" rtl="1">
              <a:spcAft>
                <a:spcPts val="100"/>
              </a:spcAft>
            </a:pPr>
            <a:r>
              <a:rPr sz="950" b="0">
                <a:solidFill>
                  <a:srgbClr val="C8D8F5"/>
                </a:solidFill>
                <a:latin typeface="Arial"/>
              </a:rPr>
              <a:t>الجنسية: تشيلي</a:t>
            </a:r>
          </a:p>
          <a:p>
            <a:pPr algn="r" rtl="1">
              <a:spcAft>
                <a:spcPts val="200"/>
              </a:spcAft>
            </a:pPr>
            <a:r>
              <a:rPr sz="950" b="0">
                <a:solidFill>
                  <a:srgbClr val="C8D8F5"/>
                </a:solidFill>
                <a:latin typeface="Arial"/>
              </a:rPr>
              <a:t>الإقامة: فانكوفر، كندا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5321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2971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اللغات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الإسبانية · الإنجليزية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20240"/>
            <a:ext cx="297180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التعليم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2024 · قائد في التصنيع المتقدم — كندا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2018 · دبلوم في تطوير تطبيقات الهاتف المحمول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2014 · هندسة صناعية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2007 · بكالوريوس هندسة علوم الحاسوب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14800"/>
            <a:ext cx="29718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الخبرة حسب الصناعة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أكثر من 20 عامًا في التقنية عبر صناعات وأدوار متعددة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4 سنوات مستشارًا في العمليات والتحسين المستمر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5 سنوات في بناء حلول للجهات الحكومية في تشيلي وكندا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24 عامًا في تقديم خدمات تقنية عالية الجودة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10 سنوات مستشارًا في كندا للأسواق العالمية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07008"/>
            <a:ext cx="411480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الخبرة المهنية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2020–2024 · مهندس معماري للحلول الرقمية — التوأم الرقمي وإنترنت الأشياء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2019 · مهندس معماري للحلول — الأجهزة الذكية والويب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2012–2014 · رئيس قسم تطوير وصيانة البرمجيات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2007–2011 · قائد تطوير البرمجيات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434840"/>
            <a:ext cx="4114800" cy="2240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الكفاءات الأساسية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التحسين المستمر للعمليات (Six Sigma و Lean)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مهندس معماري للحلول التقنية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تنسيق SAP و SaaS والذكاء الاصطناعي والأنظمة القديمة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التدريب على تطبيقات التقنية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خفض 90% من الرسائل والعمليات غير الضرورية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143000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5875">
            <a:solidFill>
              <a:srgbClr val="0E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52728"/>
            <a:ext cx="3703320" cy="2148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0E7C5A"/>
                </a:solidFill>
                <a:latin typeface="Arial"/>
              </a:rPr>
              <a:t>🎯 القيمة المضافة للمشروع — الدقم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مكتب إدارة مشاريع مزوّد بالذكاء الاصطناعي (Autopilot): المحاضر والالتزامات والمتابعة تُلتقط لحظيًا — مُثبت أثناء تكوين هذا الفريق نفسه.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التوأم الرقمي + إنترنت الأشياء: العمود الفقري الرقمي للدراسة وللمصنع المستقبلي.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التحكم بالوثائق وتتبّع حزمة العميل مع خفض كبير في الاحتكاك (−90% من الرسائل غير الضرورية).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393192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المشاريع الرئيسية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التوائم الرقمية: محاكاة وتحسين العمليات الصناعية، ورفع الكفاءة وتقليل المخاطر التشغيلية.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السلامة والكفاءة في التعدين: الواقع الافتراضي للوقاية من الحوادث + أدوات توفير في المشتريات والمخزون.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الامتثال القانوني والبيئي: أتمتة جعلت فريقه رائدًا في أمريكا اللاتينية في توافر المعلومات وشفافيتها.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حلول الهاتف المحمول وإنترنت الأشياء: تحكّم شامل بعمليات الإنتاج على iOS و Apple Watch و Android وأجهزة IoT.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1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Luis Enrique García Medina</a:t>
            </a:r>
          </a:p>
          <a:p>
            <a:pPr rtl="1" algn="r"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Arial"/>
              </a:rPr>
              <a:t>قائد المشروع — الميتالورجيا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السيرة الذاتية</a:t>
            </a:r>
          </a:p>
          <a:p>
            <a:pPr algn="r" rtl="1">
              <a:spcAft>
                <a:spcPts val="100"/>
              </a:spcAft>
            </a:pPr>
            <a:r>
              <a:rPr sz="950" b="0">
                <a:solidFill>
                  <a:srgbClr val="C8D8F5"/>
                </a:solidFill>
                <a:latin typeface="Arial"/>
              </a:rPr>
              <a:t>الجنسية: مكسيكي</a:t>
            </a:r>
          </a:p>
          <a:p>
            <a:pPr algn="r" rtl="1">
              <a:spcAft>
                <a:spcPts val="200"/>
              </a:spcAft>
            </a:pPr>
            <a:r>
              <a:rPr sz="950" b="0">
                <a:solidFill>
                  <a:srgbClr val="C8D8F5"/>
                </a:solidFill>
                <a:latin typeface="Arial"/>
              </a:rPr>
              <a:t>الإقامة: سانتا آنا، سونورا، المكسيك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5321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2971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اللغات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الإسبانية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20240"/>
            <a:ext cx="297180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التعليم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2005 · دكتوراه في المواد والميتالورجيا — CIMAV، تشيواوا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1998 · ماجستير في الميتالورجيا الاستخلاصية اللاحديدية — UNISON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1992 · هندسة كيميائية — UNISON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14800"/>
            <a:ext cx="29718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الخبرة حسب الصناعة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أكثر من 30 عامًا في معالجة معادن الذهب/الفضة/النحاس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الهيدروميتالورجيا من البداية للنهاية: الترشيح الساكن والديناميكي، ADR، Merrill-Crowe، الاستخلاص الكهربائي، SART، SX-EW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7 سنوات في مصنع أسمنت: الرماد المتطاير من الجانبين (إنتاجه من الفحم ← الكلنكر، وشراؤه من محطات الطاقة الحرارية)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تعدين في تشيلي والمكسيك: Kinross، Goldcorp/Leagold، Timmins، Minefinders، Cananea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الاستخلاص من المخلفات والخامات العصيّة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07008"/>
            <a:ext cx="411480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الخبرة المهنية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2022–الآن · مستشار عمليات وميتالورجيا — LEGARMET &amp; PROCESS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2018–الآن · مستشار — HQ Metales / الخرسانة المقذوفة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2012–2015 · مشرف الميتالورجيا والمعالجة البيئية — Kinross La Coipa (كوبيابو، تشيلي)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Kinross Maricunga · مهندس عمليات أول ومشرف مصنع SART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Goldcorp / Leagold Los Filos · Timmins · Minefinders Dolores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Cananea · بحث وتطوير في النحاس (SX-EW)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434840"/>
            <a:ext cx="4114800" cy="2240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الكفاءات الأساسية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دورة المصنع الكاملة: من الدراسة الجيوميتالورجية إلى التصميم والبناء وبدء التشغيل والتحسين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تصميم برامج اختبارات الترشيح على مستوى المختبر والمصنع التجريبي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تصميم وإعادة تصميم مسارات العمليات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دعم CAPEX و OPEX · خفض استهلاك الكواشف (NaCN، الجير، الزنك)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التحكم بالشوائب (الكبريتات، النحاس، الزنك، الحديد)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تطوير كوادر تقنية عالية المستوى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143000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5875">
            <a:solidFill>
              <a:srgbClr val="0E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52728"/>
            <a:ext cx="3703320" cy="2148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0E7C5A"/>
                </a:solidFill>
                <a:latin typeface="Arial"/>
              </a:rPr>
              <a:t>🎯 القيمة المضافة للمشروع — الدقم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وصل والتشخيص جاهز: حمأة كيميائية ~24% نحاس · رماد متطاير (زنك 5.3%) · خبث — ومسار مرسوم: ترشيح بحمض الكبريتيك H₂SO₄ → استخلاص كهربائي، مع إزالة الحديد بالترسيب الكيميائي (pH) قبل الاستخلاص الكهربائي.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منهجية التوصيف أولًا: المادة → المنتج → المتغيرات → الملوثات → التتبّع. «مرحلة الاختبارات هي حيث تُصنع التقنية.»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الملوثات الحرجة مُحدّدة بخبرة مباشرة: الزرنيخ يُضبط عند المدخل وفق اللوائح · الفاناديوم/الكروم/النيكل في الرماد المتطاير (7 سنوات في التعامل مع الرماد المتطاير في مصنع أسمنت، من الجانبين).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إعادة تأطير اقتصادية للمشروع: «المادة الخام بتكلفة صفرية» — يتحول العبء البيئي إلى أصل منتج.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393192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المشاريع الرئيسية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مشرف مصنع SART — Kinross Maricunga.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الترشيح الديناميكي لمركّزات البيريت الحاملة للذهب — Grupo Bacis · استخلاص الفضة من الخامات العصيّة — Silvermex.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المعالجة البيئية وإعادة تشغيل ساحات الترشيح القديمة — Kinross La Coipa.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عائلات عمليات قابلة للتطبيق مباشرةً على استخلاص المعادن من المخلفات الصناعية.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1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Kent Christie</a:t>
            </a:r>
          </a:p>
          <a:p>
            <a:pPr rtl="1" algn="r"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Arial"/>
              </a:rPr>
              <a:t>الميتالورجيا · خبير إعادة التدوير · مستشار البيئة / HSEC — عُمان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السيرة الذاتية</a:t>
            </a:r>
          </a:p>
          <a:p>
            <a:pPr algn="r" rtl="1">
              <a:spcAft>
                <a:spcPts val="100"/>
              </a:spcAft>
            </a:pPr>
            <a:r>
              <a:rPr sz="950" b="0">
                <a:solidFill>
                  <a:srgbClr val="C8D8F5"/>
                </a:solidFill>
                <a:latin typeface="Arial"/>
              </a:rPr>
              <a:t>الجنسية: أمريكي (الولايات المتحدة)</a:t>
            </a:r>
          </a:p>
          <a:p>
            <a:pPr algn="r" rtl="1">
              <a:spcAft>
                <a:spcPts val="200"/>
              </a:spcAft>
            </a:pPr>
            <a:r>
              <a:rPr sz="950" b="0">
                <a:solidFill>
                  <a:srgbClr val="C8D8F5"/>
                </a:solidFill>
                <a:latin typeface="Arial"/>
              </a:rPr>
              <a:t>الإقامة: يوتا، الولايات المتحدة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5321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2971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اللغات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الإنجليزية (لغة أم) · الإسبانية (بطلاقة)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20240"/>
            <a:ext cx="297180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التعليم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بكالوريوس اقتصاد + بكالوريوس آداب في الإسبانية — جامعة يوتا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شهادات: CMSP (2025) · HAZWOPER (2025) · مدرّب MSHA (2024)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مدقق معتمد — مدونة السيانيد الدولية · مدقق رئيسي ISO 14001 · OSHA 30 ساعة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14800"/>
            <a:ext cx="29718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الخبرة حسب الصناعة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أكثر من 25 عامًا في الصحة والسلامة والبيئة بالتعدين: التصميم ← البناء ← التشغيل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استخلاص وإعادة تدوير المعادن · النفايات الخطرة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معالجة المياه (Fruta del Norte، Hermosa) · الانبعاثات/أكياس الترشيح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الخليج: تقييمات صحة وسلامة لمقاول Ma'aden (السعودية) · لوائح MHRS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امتثال متعدد الدول: MSHA/OSHA (الولايات المتحدة) · SERNAGEOMIN (تشيلي) · STPS (المكسيك) · OSINERGMIN (بيرو) · MHRS (السعودية)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07008"/>
            <a:ext cx="411480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الخبرة المهنية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2024–الآن · مستشار دولي في الصحة والسلامة والبيئة — KC International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2024 · مدير البيئة والصحة والسلامة — First Mode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2020–2023 · مدير الصحة والسلامة والبيئة — Capstone Copper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2011–2018 · مدير السلامة والاستدامة — Kinross Gold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2006–2010 · مدير تدقيقات الصحة والسلامة والبيئة — Barrick Gold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434840"/>
            <a:ext cx="4114800" cy="2240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الكفاءات الأساسية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تقييم المخاطر: PHA · FMEA · HAZOP · RAMS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تحليل السبب الجذري: TapRoot، Ishikawa، شجرة الأعطال · ICAM · CAPA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برامج النفايات الخطرة (HAZWOPER)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تدقيقات الصحة والسلامة والبيئة والامتثال المؤسسي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مراجعة الصحة والسلامة والبيئة في مرحلة التصميم والهندسة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143000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5875">
            <a:solidFill>
              <a:srgbClr val="0E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52728"/>
            <a:ext cx="3703320" cy="2148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0E7C5A"/>
                </a:solidFill>
                <a:latin typeface="Arial"/>
              </a:rPr>
              <a:t>🎯 القيمة المضافة للمشروع — الدقم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تطابق 1:1 مع مصنع المشروع: قاد دراسات HAZOP وتقييمات المخاطر لمصنع استخلاص/إعادة تدوير النحاس في Pinto Valley (Capstone).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التراخيص والامتثال في الخليج: Ma'aden (السعودية) ولوائح MHRS · النفايات الخطرة (HAZWOPER) · معالجة المياه والانبعاثات.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ثنائي اللغة إنجليزي/إسباني كلغة أم: جسر مباشر بين الفريق والعميل/الجهات في عُمان.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393192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المشاريع الرئيسية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قاد دراسات HAZOP وتقييمات المخاطر لمصنع استخلاص/إعادة تدوير النحاس في Pinto Valley (Capstone).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Ma'aden (السعودية): أدّت توصياته إلى حصول المقاول على شهادة ISO 45001.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النتائج: −32% إصابات مفوّتة للوقت و−34% إصابات مسجّلة في Capstone · −38% LTIFR في Kinross · غرامات تنظيمية أقل بنسبة 19–42%.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Cozamín: صفر وفيات منذ 2021 (السجل السابق: وفاة كل سنتين).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1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Juan Carlos Ramírez Escobar</a:t>
            </a:r>
          </a:p>
          <a:p>
            <a:pPr rtl="1" algn="r"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Arial"/>
              </a:rPr>
              <a:t>رئيس الصيانة والموثوقية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السيرة الذاتية</a:t>
            </a:r>
          </a:p>
          <a:p>
            <a:pPr algn="r" rtl="1">
              <a:spcAft>
                <a:spcPts val="100"/>
              </a:spcAft>
            </a:pPr>
            <a:r>
              <a:rPr sz="950" b="0">
                <a:solidFill>
                  <a:srgbClr val="C8D8F5"/>
                </a:solidFill>
                <a:latin typeface="Arial"/>
              </a:rPr>
              <a:t>الجنسية: تشيلي</a:t>
            </a:r>
          </a:p>
          <a:p>
            <a:pPr algn="r" rtl="1">
              <a:spcAft>
                <a:spcPts val="200"/>
              </a:spcAft>
            </a:pPr>
            <a:r>
              <a:rPr sz="950" b="0">
                <a:solidFill>
                  <a:srgbClr val="C8D8F5"/>
                </a:solidFill>
                <a:latin typeface="Arial"/>
              </a:rPr>
              <a:t>الإقامة: تشيلي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5321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2971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اللغات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الإسبانية · الإنجليزية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20240"/>
            <a:ext cx="297180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التعليم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2001 · مهندس صناعي مدني (نظم) — جامعة أنتوفاغاستا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1996 · دبلوم في الهندسة الصناعية — جامعة أنتوفاغاستا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1987 · مهندس تنفيذ كهربائي — جامعة فالبارايسو الكاثوليكية (PUCV)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مهندس تنفيذ إلكتروني (PUCV) · فني كهرباء وإلكترونيات — فالبارايسو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14800"/>
            <a:ext cx="29718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الخبرة حسب الصناعة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أكثر من 35 عامًا في تعدين النحاس الكبير في تشيلي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Minera Escondida (BHP) · Teck (Quebrada Blanca، Carmen de Andacollo) · Kinross Maricunga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Collahuasi · Lumina Copper Caserones · Codelco Norte / Chuquicamata · Anglo American Los Bronces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مصانع التركيز، SX-EW، الهيدروميتالورجيا، المنجم ومحطات التحلية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الاستشارات في سلامة الأصول والموثوقية التشغيلية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07008"/>
            <a:ext cx="411480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الخبرة المهنية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2026–الآن · مستشار / مدقق / قائد إدارة الأصول — Boston Consulting Group (BCG)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2021–الآن · مستشار / مدقق / قائد إدارة الأصول — MaxAsset Dunamar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2022–2025 · استشارة خبيرة في سلامة الأصول (330 أصلًا حرجًا، FMECA / BowTie) — Torque Eng.، Minera Escondida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2018–2019 · مدير الصيانة وإدارة الأصول — Lumina Copper Caserones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2012–2018 · مشرف الصيانة وعمليات المنجم/المصنع (SX-EW) — Teck Quebrada Blanca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2008–2011 · مشرف الصيانة — Kinross Maricunga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1989–2006 · قائد مشاريع ومهندس موثوقية — Minera Escondida (BHP)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434840"/>
            <a:ext cx="4114800" cy="2240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الكفاءات الأساسية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هندسة الموثوقية وقابلية الصيانة (RCM، RCM2، تحليل RAM)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سلامة الأصول: FMECA · BowTie · RBI · ICAM · ISO 14224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ميسّر HAZOP / FMEA / RCM · تحليل السبب الجذري (RCA)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إدارة الأصول والخطط الرئيسية للصيانة (SAP، MIMS)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Six Sigma (التميّز التشغيلي) · التحسين المستمر · قيادة الفرق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استعادة الأصول الحرجة (MCR) وملفات الهندسة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143000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5875">
            <a:solidFill>
              <a:srgbClr val="0E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52728"/>
            <a:ext cx="3703320" cy="2148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0E7C5A"/>
                </a:solidFill>
                <a:latin typeface="Arial"/>
              </a:rPr>
              <a:t>🎯 القيمة المضافة للمشروع — الدقم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مؤلّف بنك الأسئلة التقنية للعناية الواجبة في المشروع: يبني المراجعة المادة ← المنتج ← المتغيرات ← الملوثات، ويضع الفريق كشريك استراتيجي منذ مرحلة الهندسة.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سلامة الأصول منذ التصميم: يقترح خطة إدارة سلامة الأصول (AIMP) بدمج FMECA و RCM و RBI و RCA و BowTie و ISO 14224 لتعظيم الجاهزية وتقليل المخاطر التشغيلية.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سلامة العمليات (PSM) لمصنع يتعامل مع حمض الكبريتيك والمعادن الثقيلة: HAZID / HAZOP / LOPA، تصنيف المناطق الخطرة وتحليل العواقب.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أكثر من 35 عامًا في التعدين الكبير (Escondida، Teck، Kinross): تدخل قابلية الصيانة والموثوقية إلى الدراسة منذ اليوم الأول.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393192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المشاريع الرئيسية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ملفات استعادة الأصول (MCR): 330 أصلًا حرجًا باستخدام FMECA / BowTie — مصانع تركيز وكاثودات ومحطات تحلية (500–3000 لتر/ث)، Minera Escondida.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تدقيق صيانة الأصول: 300 إجراء ميكانيكي، مصانع تركيز L1 / L2 و CLC — BHP Escondida.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التفاوض على عقد صيانة متكامل وتنفيذه (Full MARC، Komatsu / Joy Global) — Lumina Copper Caserones.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تنفيذ RCM2 والموثوقية التشغيلية — Escondida و Collahuasi و Anglo American Los Bronces.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1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Juan Pablo Hidalgo Figueroa</a:t>
            </a:r>
          </a:p>
          <a:p>
            <a:pPr rtl="1" algn="r"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Arial"/>
              </a:rPr>
              <a:t>مصمم صناعي ثلاثي الأبعاد — BIM / أنابيب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السيرة الذاتية</a:t>
            </a:r>
          </a:p>
          <a:p>
            <a:pPr algn="r" rtl="1">
              <a:spcAft>
                <a:spcPts val="100"/>
              </a:spcAft>
            </a:pPr>
            <a:r>
              <a:rPr sz="950" b="0">
                <a:solidFill>
                  <a:srgbClr val="C8D8F5"/>
                </a:solidFill>
                <a:latin typeface="Arial"/>
              </a:rPr>
              <a:t>الجنسية: تشيلي</a:t>
            </a:r>
          </a:p>
          <a:p>
            <a:pPr algn="r" rtl="1">
              <a:spcAft>
                <a:spcPts val="200"/>
              </a:spcAft>
            </a:pPr>
            <a:r>
              <a:rPr sz="950" b="0">
                <a:solidFill>
                  <a:srgbClr val="C8D8F5"/>
                </a:solidFill>
                <a:latin typeface="Arial"/>
              </a:rPr>
              <a:t>الإقامة: كونثيبثيون، تشيلي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5321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2971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اللغات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الإسبانية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20240"/>
            <a:ext cx="297180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التعليم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2019 · مصمم صناعي — DUOC UC، كونثيبثيون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14800"/>
            <a:ext cx="29718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الخبرة حسب الصناعة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5 سنوات في التصميم الصناعي لمصانع المعالجة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صناعة الصلب: CAP Acero — Huachipato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الهندسة وأنابيب العمليات الصناعية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التقاط الواقع / المسح إلى BIM في المصانع القائمة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07008"/>
            <a:ext cx="411480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الخبرة المهنية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2026 · مدير BIM — Ingemecanic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SCL Ingeniería — مصمم أنابيب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2020–2023 · CAP Acero، Huachipato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434840"/>
            <a:ext cx="4114800" cy="2240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الكفاءات الأساسية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أنابيب صناعية: نمذجة ثلاثية الأبعاد، رسومات التصنيع، مخططات أيزومترية، MTO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إدارة BIM وفق ISO 19650: بيئة بيانات مشتركة (Autodesk ACC)، BEP / EIR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Revit · AutoCAD Plant 3D · Advance Steel · Tekla Structures · Navisworks Manage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مسح ليزري Leica RTC 360 · FARO SCENE · Leica Cyclone · ReCap Pro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التنسيق وكشف التعارضات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143000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5875">
            <a:solidFill>
              <a:srgbClr val="0E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52728"/>
            <a:ext cx="3703320" cy="2148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0E7C5A"/>
                </a:solidFill>
                <a:latin typeface="Arial"/>
              </a:rPr>
              <a:t>🎯 القيمة المضافة للمشروع — الدقم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المسح إلى BIM بماسح ليزري (Leica RTC 360): نموذج «كما بُني» للحالة الفعلية للمصنع — الأساس الهندسي للتوأم الرقمي.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المخططات الأيزومترية و MTO وكشف التعارضات (حلّ 100% من التعارضات الحرجة قبل التصنيع): من المفهوم إلى حزمة قابلة للبناء.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متاح للسفر إلى عُمان: يتيح حملات المسح الميداني بالماسح.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393192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المشاريع الرئيسية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إدارة بيئة بيانات مشتركة خفّضت أوقات تبادل المعلومات بنسبة 15%.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حلّ 100% من التعارضات الحرجة قبل التصنيع (كشف التعارضات).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نماذج «كما بُني» من سحابة النقاط (المسح إلى BIM) للمصانع العاملة.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مخططات أيزومترية وقوائم مواد للتصنيع والتركيب.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1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Ángelo Urrutia Tapia</a:t>
            </a:r>
          </a:p>
          <a:p>
            <a:pPr rtl="1" algn="r"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Arial"/>
              </a:rPr>
              <a:t>الصيانة الميكانيكية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السيرة الذاتية</a:t>
            </a:r>
          </a:p>
          <a:p>
            <a:pPr algn="r" rtl="1">
              <a:spcAft>
                <a:spcPts val="100"/>
              </a:spcAft>
            </a:pPr>
            <a:r>
              <a:rPr sz="950" b="0">
                <a:solidFill>
                  <a:srgbClr val="C8D8F5"/>
                </a:solidFill>
                <a:latin typeface="Arial"/>
              </a:rPr>
              <a:t>الجنسية: تشيلي</a:t>
            </a:r>
          </a:p>
          <a:p>
            <a:pPr algn="r" rtl="1">
              <a:spcAft>
                <a:spcPts val="200"/>
              </a:spcAft>
            </a:pPr>
            <a:r>
              <a:rPr sz="950" b="0">
                <a:solidFill>
                  <a:srgbClr val="C8D8F5"/>
                </a:solidFill>
                <a:latin typeface="Arial"/>
              </a:rPr>
              <a:t>الإقامة: لا سيرينا، تشيلي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5321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2971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اللغات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الإسبانية · إنجليزية وظيفية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20240"/>
            <a:ext cx="297180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التعليم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2017–2022 · مهندس ميكانيكي مدني — جامعة لا سيرينا (الأول على دفعته 2023)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2024–2025 · دبلوم في إدارة الصيانة — DuocUC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2025– · هندسة صناعية (جارية) — IACC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دورات: تعلّم الآلة (جامعة لندن) · Power BI · SAP 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14800"/>
            <a:ext cx="29718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الخبرة حسب الصناعة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تعدين النحاس الكبير: Chuquicamata (Codelco) و Minera Zaldívar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مصانع التكسير والطحن والتصنيف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الصيانة الإنشائية والميكانيكية لمعدات المصنع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المحاكاة الحاسوبية (CFD / العناصر المحدودة)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07008"/>
            <a:ext cx="411480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الخبرة المهنية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مارس–أغسطس 2025 · مخطط صيانة المصنع — Berliam SPA، Chuquicamata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نوفمبر 2024–فبراير 2025 · مهندس مراقبة الجودة — Berliam SPA، Chuquicamata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2023–2024 · مهندس/مشرف مراقبة الجودة — GMT Ltda، Minera Zaldívar (+ CMP Los Colorados)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434840"/>
            <a:ext cx="4114800" cy="2240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الكفاءات الأساسية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التخطيط اليومي/الأسبوعي، الطوارئ، المخزون وقطع الغيار الحرجة في SAP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فحص الكسّارات والمضخات والمطاحن والغرابيل والسيور وبطاريات الهيدروسيكلون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القياسات في تغيير المضخات والكسّارات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Ansys (متقدم) · Fusion 360 (متقدم) · AutoCAD · Inventor · MS Project · Power BI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جاهزية فورية · متاح للسفر إلى عُمان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143000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5875">
            <a:solidFill>
              <a:srgbClr val="0E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52728"/>
            <a:ext cx="3703320" cy="2148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0E7C5A"/>
                </a:solidFill>
                <a:latin typeface="Arial"/>
              </a:rPr>
              <a:t>🎯 القيمة المضافة للمشروع — الدقم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يصون المعدات نفسها الموجودة في مصنع استخلاص المعادن: الكسّارات، المطاحن، المضخات، الغرابيل، الهيدروسيكلونات والسيور.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التخطيط في SAP مع المخزون وقطع الغيار الحرجة: تدخل قابلية الصيانة إلى الدراسة منذ التصميم.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Power BI · تعلّم الآلة · Ansys: ملف مناسب للصيانة التنبؤية على التوأم الرقمي · جاهزية فورية ويسافر إلى عُمان.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393192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المشاريع الرئيسية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تخطيط الصيانة بنوافذ استراتيجية للجاهزية المستمرة — Chuquicamata.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عمليات تفتيش تشغيلية وسلامة على المعدات نفسها الموجودة في مصنع استخلاص المعادن.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تركيب أغطية على السيور الناقلة وإصلاحات إنشائية على عربات الـtripper والأروقة — Zaldívar / CMP.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ملف CAD/محاكاة بميل طبيعي لنهج التوائم الرقمية لدى Sigma.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1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Paloma Tapia Guerrero</a:t>
            </a:r>
          </a:p>
          <a:p>
            <a:pPr rtl="1" algn="r"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Arial"/>
              </a:rPr>
              <a:t>محلّلة الجودة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السيرة الذاتية</a:t>
            </a:r>
          </a:p>
          <a:p>
            <a:pPr algn="r" rtl="1">
              <a:spcAft>
                <a:spcPts val="100"/>
              </a:spcAft>
            </a:pPr>
            <a:r>
              <a:rPr sz="950" b="0">
                <a:solidFill>
                  <a:srgbClr val="C8D8F5"/>
                </a:solidFill>
                <a:latin typeface="Arial"/>
              </a:rPr>
              <a:t>الجنسية: تشيلي</a:t>
            </a:r>
          </a:p>
          <a:p>
            <a:pPr algn="r" rtl="1">
              <a:spcAft>
                <a:spcPts val="200"/>
              </a:spcAft>
            </a:pPr>
            <a:r>
              <a:rPr sz="950" b="0">
                <a:solidFill>
                  <a:srgbClr val="C8D8F5"/>
                </a:solidFill>
                <a:latin typeface="Arial"/>
              </a:rPr>
              <a:t>الإقامة: كوكيمبو، تشيلي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5321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2971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اللغات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الإسبانية · إنجليزية متوسطة (B1)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20240"/>
            <a:ext cx="297180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التعليم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2025 · مهندسة مدنية في المناجم — الجامعة البابوية الكاثوليكية في فالبارايسو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برنامج Inspira (Codelco) · القيادة في التعدين (PUCV) · Minería Para Todos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14800"/>
            <a:ext cx="29718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الخبرة حسب الصناعة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تعدين النحاس الكبير: Antofagasta Minerals — Minera Centinela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توزيع المناجم المكشوفة (dispatch): حُفر Esperanza و Encuentro و Tesoro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التفتيش الإنشائي في الموقع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توحيد العمليات التشغيلية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07008"/>
            <a:ext cx="411480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الخبرة المهنية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فبراير–نوفمبر 2025 · مهندسة أطروحة، التوزيع — AMSA Minera Centinela: إدارة حركة المواد ومؤشرات الأداء التشغيلية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فبراير–أبريل 2024 · تدريب مهني — Centinela: التفتيش الإنشائي، رصد الملاحظات ومتابعتها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434840"/>
            <a:ext cx="4114800" cy="2240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الكفاءات الأساسية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توحيد ومنهجة الإجراءات الحرجة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التحقق من الظروف والامتثال للمعايير (دورة ضمان الجودة)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متابعة مؤشرات الأداء لدعم اتخاذ القرار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Maptek Vulcan · AutoCAD · Ventsim · Power BI · Orchestra · JigSaw · RockVision D-Twin (أساسي)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جاهزية فورية بدوام كامل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143000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5875">
            <a:solidFill>
              <a:srgbClr val="0E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52728"/>
            <a:ext cx="3703320" cy="2148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0E7C5A"/>
                </a:solidFill>
                <a:latin typeface="Arial"/>
              </a:rPr>
              <a:t>🎯 القيمة المضافة للمشروع — الدقم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ضمان جودة مخرجات الهندسة (المخططات، P&amp;IDs، الملفات): لا شيء يصل إلى العميل دون اجتياز دورة الجودة.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متخصصة في توحيد الإجراءات الحرجة — تحوّل معرفة الفريق إلى وثائق موضوعية قابلة للتكرار.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جاهزية فورية بدوام كامل · انسجام مع التوائم الرقمية (RockVision D-Twin).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393192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المشاريع الرئيسية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الأطروحة: توحيد العمليات التشغيلية للتوزيع — تحديد ومنهجة الإجراءات الحرجة.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توزيع تقني: تنسيق الأساطيل، المراقبة المستمرة لضغط/حرارة الإطارات والكشف المبكر للأعطال.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التفتيش الإنشائي وفق معايير السلامة: تسجيل الملاحظات ومتابعتها (دورة مراقبة جودة خالصة).</a:t>
            </a:r>
          </a:p>
          <a:p>
            <a:pPr rtl="1" algn="r">
              <a:spcAft>
                <a:spcPts val="200"/>
              </a:spcAft>
              <a:buChar char="•"/>
            </a:pPr>
            <a:r>
              <a:rPr sz="1200" b="0">
                <a:solidFill>
                  <a:srgbClr val="141B26"/>
                </a:solidFill>
                <a:latin typeface="Arial"/>
              </a:rPr>
              <a:t>انسجام مع التوائم الرقمية: RockVision D-Twin.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rtl="1" algn="r">
              <a:spcAft>
                <a:spcPts val="1000"/>
              </a:spcAft>
            </a:pPr>
            <a:r>
              <a:rPr sz="1800" b="1">
                <a:solidFill>
                  <a:srgbClr val="9FC1FF"/>
                </a:solidFill>
                <a:latin typeface="Arial"/>
              </a:rPr>
              <a:t>SIGMA DIGITAL TWINS</a:t>
            </a:r>
          </a:p>
          <a:p>
            <a:pPr rtl="1" algn="r">
              <a:spcAft>
                <a:spcPts val="12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الخطوات التالية</a:t>
            </a:r>
          </a:p>
          <a:p>
            <a:pPr rtl="1" algn="r">
              <a:spcAft>
                <a:spcPts val="800"/>
              </a:spcAft>
              <a:buChar char="•"/>
            </a:pPr>
            <a:r>
              <a:rPr sz="1600" b="0">
                <a:solidFill>
                  <a:srgbClr val="E8F0FF"/>
                </a:solidFill>
                <a:latin typeface="Arial"/>
              </a:rPr>
              <a:t>فريق متماسك: جميع أعضائه يعرفون بعضهم وقد عملوا معًا في مشاريع متعددة على مدى سنوات.</a:t>
            </a:r>
          </a:p>
          <a:p>
            <a:pPr rtl="1" algn="r">
              <a:spcAft>
                <a:spcPts val="800"/>
              </a:spcAft>
              <a:buChar char="•"/>
            </a:pPr>
            <a:r>
              <a:rPr sz="1600" b="0">
                <a:solidFill>
                  <a:srgbClr val="E8F0FF"/>
                </a:solidFill>
                <a:latin typeface="Arial"/>
              </a:rPr>
              <a:t>الفريق جاهز لبدء العمل في أغسطس 2026.</a:t>
            </a:r>
          </a:p>
          <a:p>
            <a:pPr rtl="1" algn="r">
              <a:spcAft>
                <a:spcPts val="800"/>
              </a:spcAft>
              <a:buChar char="•"/>
            </a:pPr>
            <a:r>
              <a:rPr sz="1600" b="0">
                <a:solidFill>
                  <a:srgbClr val="E8F0FF"/>
                </a:solidFill>
                <a:latin typeface="Arial"/>
              </a:rPr>
              <a:t>محاضر المناقشة لكل عضو متاحة عند الطلب: الأسئلة والأجوبة، ومستويات المعرفة، والمساهمات في المشروع.</a:t>
            </a:r>
          </a:p>
          <a:p>
            <a:pPr rtl="1" algn="r">
              <a:spcAft>
                <a:spcPts val="800"/>
              </a:spcAft>
              <a:buChar char="•"/>
            </a:pPr>
            <a:r>
              <a:rPr sz="1600" b="0">
                <a:solidFill>
                  <a:srgbClr val="E8F0FF"/>
                </a:solidFill>
                <a:latin typeface="Arial"/>
              </a:rPr>
              <a:t>السير الذاتية الكاملة متاحة عند الطلب.</a:t>
            </a:r>
          </a:p>
          <a:p>
            <a:pPr rtl="1" algn="r">
              <a:spcAft>
                <a:spcPts val="800"/>
              </a:spcAft>
              <a:buChar char="•"/>
            </a:pPr>
            <a:r>
              <a:rPr sz="1600" b="0">
                <a:solidFill>
                  <a:srgbClr val="E8F0FF"/>
                </a:solidFill>
                <a:latin typeface="Arial"/>
              </a:rPr>
              <a:t>للتواصل: Jorge Juri — مدير المشروع · واتساب ‎+1 778 835 3720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