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246888"/>
            <a:ext cx="1161288" cy="11612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01752" y="50292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1F6FEB"/>
                </a:solidFill>
                <a:latin typeface="Calibri"/>
              </a:rPr>
              <a:t>SIGMA DIGITAL TWINS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10332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41B26"/>
                </a:solidFill>
                <a:latin typeface="Calibri"/>
              </a:rPr>
              <a:t>Proposed Team — Duqm, Oman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" y="205740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0">
                <a:solidFill>
                  <a:srgbClr val="5B6676"/>
                </a:solidFill>
                <a:latin typeface="Calibri"/>
              </a:rPr>
              <a:t>Mineral Recovery Project · Conceptual + Basic Engineering Study · July 2026</a:t>
            </a:r>
          </a:p>
        </p:txBody>
      </p:sp>
      <p:pic>
        <p:nvPicPr>
          <p:cNvPr id="6" name="Picture 5" descr="cover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" y="2834640"/>
            <a:ext cx="11585448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1752" y="6309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5B6676"/>
                </a:solidFill>
                <a:latin typeface="Calibri"/>
              </a:rPr>
              <a:t>Confidential — prepared for HLC / Tonino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0B3D91"/>
                </a:solidFill>
                <a:latin typeface="Calibri"/>
              </a:rPr>
              <a:t>Team Organization Chart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047" y="777240"/>
            <a:ext cx="36576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60000" rIns="60000"/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141B26"/>
                </a:solidFill>
                <a:latin typeface="Calibri"/>
              </a:rPr>
              <a:t>Client — Oman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via HLC · Tonino (sponsor)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95847.5" y="1344168"/>
            <a:ext cx="0.0" cy="13716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267047" y="1481328"/>
            <a:ext cx="3657600" cy="685800"/>
          </a:xfrm>
          <a:prstGeom prst="roundRect">
            <a:avLst>
              <a:gd name="adj" fmla="val 8000"/>
            </a:avLst>
          </a:prstGeom>
          <a:solidFill>
            <a:srgbClr val="0B3D91"/>
          </a:solidFill>
          <a:ln w="15875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60000" rIns="60000"/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DIRECTOR</a:t>
            </a:r>
          </a:p>
          <a:p>
            <a:pPr algn="ctr"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Mauricio Contreras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5847.5" y="2167128"/>
            <a:ext cx="0.0" cy="22860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163927.5" y="2395728"/>
            <a:ext cx="7863840.0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63927.5" y="2395728"/>
            <a:ext cx="0.0" cy="18288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95847.5" y="2395728"/>
            <a:ext cx="0.0" cy="18288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027767.5" y="2395728"/>
            <a:ext cx="0.0" cy="18288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57987" y="2578608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141B26"/>
                </a:solidFill>
                <a:latin typeface="Calibri"/>
              </a:rPr>
              <a:t>Project Lead — Metallurgy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Luis García Medina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87" y="2718608"/>
            <a:ext cx="70000" cy="588680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89907" y="2578608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141B26"/>
                </a:solidFill>
                <a:latin typeface="Calibri"/>
              </a:rPr>
              <a:t>Head of Maintenance &amp; Reliability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Juan Carlos Ramírez (JC)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9907" y="2718608"/>
            <a:ext cx="70000" cy="588680"/>
          </a:xfrm>
          <a:prstGeom prst="roundRect">
            <a:avLst>
              <a:gd name="adj" fmla="val 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1827" y="2578608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141B26"/>
                </a:solidFill>
                <a:latin typeface="Calibri"/>
              </a:rPr>
              <a:t>AI-Powered PMO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Autopilot · Jorge Juri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01827" y="2718608"/>
            <a:ext cx="70000" cy="58868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163927.5" y="3447288"/>
            <a:ext cx="0.0" cy="466344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596999.5" y="3913632"/>
            <a:ext cx="566928.0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596999.5" y="3913632"/>
            <a:ext cx="0.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5847.5" y="3447288"/>
            <a:ext cx="0.0" cy="466344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96231.5" y="3913632"/>
            <a:ext cx="2999232.0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596231.5" y="3913632"/>
            <a:ext cx="0.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595463.5" y="3913632"/>
            <a:ext cx="0.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027767.5" y="3447288"/>
            <a:ext cx="0.0" cy="466344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027767.5" y="3913632"/>
            <a:ext cx="566928.0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594695.5" y="3913632"/>
            <a:ext cx="0.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225399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Metallurgy · Recycling Expert · Environmental / HSEC Advisor — Oman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Kent Christie (Utah, USA)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5399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24631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3D Industrial Designer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Juan Pablo Hidalgo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04631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23863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Mechanical Maintenance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Ángelo Urrutia Tapia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3863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223095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Quality Analyst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Paloma Tapia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3095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25399" y="5623560"/>
            <a:ext cx="11740896" cy="5029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Cross-functional: Legal / Compliance — Pertel Legal · Production: drawings, documents, P&amp;IDs, piping, 3D and client package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Mauricio Contreras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Director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Chilean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Spanish ·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2025 · M.Sc. Industrial Automation &amp; SCADA Integration — U. de Loja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 · Industrial Civil Engineering — U. de las Américas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2003–2005 · Risk Prevention &amp; Environmental Eng. — U. de Aconcagua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1998–2002 · Metallurgical Process Engineer — U. de Santiago de Chile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Copper &amp; gold mining in Chile, Colombia and Australia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Concentrator plant operations and metallurgical processes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Industrial maintenance of large-scale mining equipment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Automation and SCADA projects in mineral processing plants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Industrial safety and environmental management at mine sites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2022–2023 · Head of Stockpiles, Tailings &amp; Water — Goldfields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2021–2022 · General Maintenance Supervisor — FLSmidth, Minera Centinela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2021 · Maintenance Supervisor — Macep (Teck Andacollo, Caserones, Sierra Gorda)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2020–2021 · Contract Manager, Plant Operations — Collahuasi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2019–2020 · Contract Manager, Plant Operations — Minera Zaldívar (AMSA)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2017–2019 · Mine &amp; Plant Operations Supervisor — Continental Gold, Buriticá (Colombia)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2012–2014 · Plant &amp; Refinery Shift Supervisor — Kinross Maricunga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Leadership in mining operations and maintenance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Project management in mining and concentrator plants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Operational optimization and process improvement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Cost control and profitability analysis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Process automation and control (SCADA)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Mining safety and environmental regulations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Leads the study end to end: metallurgical process engineer with 20+ years operating and maintaining large-scale mining plants.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Commissioning and start-up of real plants (filtration, thickening, tailings): the study is designed with operations in mind.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Single technical counterpart for the client and partners (HLC / Tonino).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Detail engineering and erection of HD Tailings Thickener — Capstone Copper, Mantos Blancos (project 24-286): planning, management and execution.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Concentrator plant optimization: improved mineral recovery and cost reduction through control and automation strategies.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Commissioning and start-up of filtration, thickening and tailings plants.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International mining project management: underground and open-pit operations in Chile, Colombia and Australia.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Jorge Juri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AI-Powered PMO — Autopilot (PM · Digital Twin)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Chilean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Vancouver, Canada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Spanish ·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 · Advanced Manufacturing Leader — Canada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2018 · Diploma in Mobile Application Development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2014 · Industrial Engineering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2007 · B.Eng. in Computer Science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20+ years in technology across multiple industries and roles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4 years as operations &amp; continuous-improvement consultant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5 years building solutions for government agencies in Chile and Canada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24 years delivering high-quality technology services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10 years consulting in Canada for global markets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2020–2024 · Digital solutions architect — Digital Twin &amp; IoT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2019 · Solutions architect — smart devices and web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2012–2014 · Head of Software Development &amp; Maintenance Department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2007–2011 · Software Development Lead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Continuous process improvement (Six Sigma &amp; Lean)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Technology solutions architect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Orchestration of SAP, SaaS, AI and legacy systems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Coaching for technology implementations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90% reduction in unnecessary emails and processes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AI-instrumented PMO (Autopilot): minutes, commitments and follow-up captured in real time — proven while assembling this very team.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Digital twin + IoT: the digital backbone of the study and the future plant.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Document control and traceability of the client package, with a drastic reduction in friction (−90% unnecessary emails).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Digital Twins: simulation and optimization of industrial processes, improving efficiency and reducing operational risk.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Mining safety &amp; efficiency: virtual reality for accident prevention + cost-saving tools for purchasing and inventory.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Legal &amp; environmental compliance: automation that positioned his team as Latin-American leader in information availability and transparency.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Mobile &amp; IoT solutions: end-to-end production control on iOS, Apple Watch, Android and IoT devices.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Luis Enrique García Medina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Project Lead — Metallurgy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Mexican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Santa Ana, Sonora, Mexico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Spanish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2005 · Ph.D. in Materials &amp; Metallurgy — CIMAV, Chihuahua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1998 · M.Sc. in Non-Ferrous Extractive Metallurgy — UNISON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1992 · Chemical Engineering — UNISON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30+ years in Au / Ag / Cu mineral beneficiation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End-to-end hydrometallurgy: static &amp; dynamic leaching, ADR, Merrill-Crowe, electrowinning, SART, SX-EW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7 years in cement plant operations: fly ash from both sides (produced it from coal → clinker, and purchased it from thermal power plants)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Mining in Chile and Mexico: Kinross, Goldcorp/Leagold, Timmins, Minefinders, Cananea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Recovery from residues and refractory 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2022–today · Process &amp; metallurgy consultant — LEGARMET &amp; PROCESS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2018–today · Advisor — HQ Metales / Shotcrete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2012–2015 · Metallurgy &amp; Remediation Superintendent — Kinross La Coipa (Copiapó, Chile)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Kinross Maricunga · Senior process engineer and SART plant Superintendent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Goldcorp / Leagold Los Filos · Timmins · Minefinders Dolores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Cananea · Copper R&amp;D (SX-EW)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Full plant cycle: from geometallurgical study to design, construction, start-up and optimization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Design of leaching test programs at lab and pilot-plant scale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Process route design and redesign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CAPEX &amp; OPEX support · reagent consumption reduction (NaCN, lime, Zn)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Impurity control (sulphates, Cu, Zn, Fe)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High-level technical team development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Arrived with the diagnosis done: chemical sludge ~24% Cu · fly ash (Zn 5.3%) · slag — and a route already sketched: H₂SO₄ leaching → electrowinning, with Fe removed by chemical precipitation (pH) before EW.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Characterization-first methodology: material → product → variables → contaminants → traceability. “The testing phase is where the technology gets created.”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Critical contaminants mapped from first-hand experience: As controlled at intake per regulations · V/Cr/Ni in fly ash (7 years handling fly ash at a cement plant, on both sides).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Economic reframing of the project: “the feedstock is zero-cost” — the environmental liability becomes a productive asset.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SART plant Superintendent — Kinross Maricunga.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Dynamic leaching of auriferous pyrite concentrates — Grupo Bacis · silver recovery from refractory ores — Silvermex.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Remediation and reactivation of legacy leach pads — Kinross La Coipa.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Process families directly applicable to metal recovery from industrial residues.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Kent Christie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Metallurgy · Recycling Expert · Environmental / HSEC Advisor — Oman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American (USA)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Utah, USA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English (native) · Spanish (fluent)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B.S. Economics + B.A. Spanish — University of Utah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Certifications: CMSP (2025) · HAZWOPER (2025) · MSHA Instructor (2024)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Approved auditor — International Cyanide Code · ISO 14001 Lead Auditor · OSHA 30-hr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25+ years of mining HSE: design → construction → operations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Metal recovery &amp; recycling · hazardous waste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Water treatment (Fruta del Norte, Hermosa) · baghouse/emissions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Gulf: H&amp;S assessments for a Ma'aden drilling contractor (Saudi Arabia) · MHRS regulations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Multi-country compliance: MSHA/OSHA (US) · SERNAGEOMIN (CL) · STPS (MX) · OSINERGMIN (PE) · MHRS (SA)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2024–today · International HSE consultant — KC International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 · EHS Director — First Mode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2020–2023 · HSE Director — Capstone Copper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2011–2018 · Director Safety &amp; Sustainability — Kinross Gold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2006–2010 · Director HSE Audits — Barrick Gold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Risk assessment: PHA · FMEA · HAZOP · RAMS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Root-cause analysis: TapRoot, Ishikawa, Fault Tree · ICAM · CAPA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Hazardous-waste programs (HAZWOPER)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Corporate HSE and compliance audits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HSE review at design &amp; engineering stage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1:1 match with the project's plant: led HAZOPs and risk assessments for the Pinto Valley copper recovery/recycling plant (Capstone).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Gulf permitting and compliance: Ma'aden (Saudi Arabia) and MHRS regulations · hazardous waste (HAZWOPER) · water treatment and emissions.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Native EN/ES bilingual: direct bridge between the team and the client/authorities in Oman.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Led HAZOPs and risk assessments for the Pinto Valley copper recovery/recycling plant (Capstone).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Ma'aden (Saudi Arabia): his recommendations led the contractor to ISO 45001 certification.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Results: −32% LTI and −34% TRI at Capstone · −38% LTIFR at Kinross · regulatory fines down 19–42%.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Cozamín: zero fatalities since 2021 (previous history: one every 2 years).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Juan Pablo Hidalgo Figueroa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3D Industrial Designer — BIM / Piping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Chilean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Concepción,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Spanish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2019 · Industrial Designer — DUOC UC, Concepción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5 years of industrial design for process plants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Steelmaking: CAP Acero — Huachipato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Industrial engineering and piping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Reality capture / scan-to-BIM on brownfield plants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2026 · BIM Manager — Ingemecanic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SCL Ingeniería — piping designer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2020–2023 · CAP Acero, Huachipato steelworks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Industrial piping: 3D modeling, fabrication drawings, isometrics, MTO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BIM management under ISO 19650: CDE (Autodesk ACC), BEP / EIR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Revit · AutoCAD Plant 3D · Advance Steel · Tekla Structures · Navisworks Manage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Leica RTC 360 laser scanning · FARO SCENE · Leica Cyclone · ReCap Pro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Coordination and clash detection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Scan-to-BIM with laser scanning (Leica RTC 360): As-Built of the plant's real condition — the geometric foundation of the digital twin.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Isometrics, MTO and clash detection (100% of critical clashes resolved before fabrication): from concept to a constructible package.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Available to travel to Oman: enables on-site scanning campaigns.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CDE management that cut information-exchange times by 15%.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100% of critical clashes resolved before fabrication (clash detection).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As-built models from point clouds (scan-to-BIM) for operating plants.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Isometrics and material take-offs for fabrication and erection.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Ángelo Urrutia Tapia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Mechanical Maintenance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Chilean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La Serena,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Spanish · functional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2017–2022 · Mechanical Civil Engineer — U. de La Serena (top graduate, class of 2023)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2024–2025 · Diploma in Maintenance Management — DuocUC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2025– · Industrial Engineering (ongoing) — IACC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Courses: Machine Learning (U. of London) · Power BI · SAP 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Large-scale copper mining: Chuquicamata (Codelco) and Minera Zaldívar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Crushing, grinding and classification plants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Structural and mechanical maintenance of plant equipment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Computational simulation (CFD / finite elements)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Mar–Aug 2025 · Plant Maintenance Planner — Berliam SPA, Chuquicamata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Nov 2024–Feb 2025 · Quality Control Engineer — Berliam SPA, Chuquicamata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2023–2024 · QC Engineer / Supervisor — GMT Ltda, Minera Zaldívar (+ CMP Los Colorados)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Daily/weekly planning, contingencies, inventories and critical spares in SAP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Inspection of crushers, pumps, mills, screens, conveyors and hydrocyclone batteries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Metrology for pump and crusher change-outs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Ansys (advanced) · Fusion 360 (advanced) · AutoCAD · Inventor · MS Project · Power BI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Immediate availability · available to travel to Oman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Maintains the exact equipment of a mineral recovery plant: crushers, mills, pumps, screens, hydrocyclones and conveyors.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SAP planning with inventories and critical spares: maintainability enters the study from the design stage.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Power BI · Machine Learning · Ansys: a natural profile for predictive maintenance on the digital twin · immediate availability, can travel to Oman.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Maintenance planning with strategic windows for continuous availability — Chuquicamata.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Operational and safety inspections on the same equipment found in a mineral recovery plant.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Conveyor cover erection and structural repairs on tripper cars and galleries — Zaldívar / CMP.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CAD/simulation profile with natural affinity to Sigma's digital-twin approach.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Paloma Tapia Guerrero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Quality Analyst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Chilean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Coquimbo,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Spanish · intermediate English (B1)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2025 · Mining Civil Engineer — Pontificia U. Católica de Valparaíso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Inspira Program (Codelco) · Mining Leadership (PUCV) · Minería Para Todos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Large-scale copper mining: Antofagasta Minerals — Minera Centinela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Open-pit dispatch: Esperanza, Encuentro and Tesoro pits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Structural inspection on site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Standardization of operational processes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Feb–Nov 2025 · Thesis engineer, Dispatch — AMSA Minera Centinela: material movement management and operational KPIs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Feb–Apr 2024 · Professional internship — Centinela: structural inspection, findings capture and follow-up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Standardization and systematization of critical procedures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Condition verification and standards compliance (QA cycle)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KPI tracking for decision-making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Maptek Vulcan · AutoCAD · Ventsim · Power BI · Orchestra · JigSaw · RockVision D-Twin (basic)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Immediate availability, full-time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QA of engineering deliverables (drawings, P&amp;IDs, dossiers): nothing reaches the client without passing the quality cycle.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Specialist in standardizing critical procedures — turns team knowledge into objective, repeatable documents.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Immediate full-time availability · digital-twin affinity (RockVision D-Twin).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Thesis: standardization of dispatch operational processes — identification and systematization of critical procedures.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Technology-driven dispatch: fleet coordination, continuous tire pressure/temperature monitoring and early failure detection.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Structural inspection under safety standards: findings logging and follow-up (a pure quality-control cycle).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Digital-twin affinity: RockVision D-Twin.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9FC1FF"/>
                </a:solidFill>
                <a:latin typeface="Calibri"/>
              </a:rPr>
              <a:t>SIGMA DIGITAL TWINS</a:t>
            </a:r>
          </a:p>
          <a:p>
            <a:pPr>
              <a:spcAft>
                <a:spcPts val="10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Next steps</a:t>
            </a:r>
          </a:p>
          <a:p>
            <a:pPr>
              <a:spcAft>
                <a:spcPts val="600"/>
              </a:spcAft>
              <a:buChar char="•"/>
            </a:pPr>
            <a:r>
              <a:rPr sz="1700" b="0">
                <a:solidFill>
                  <a:srgbClr val="E8F0FF"/>
                </a:solidFill>
                <a:latin typeface="Calibri"/>
              </a:rPr>
              <a:t>Team available for an August 2026 start</a:t>
            </a:r>
          </a:p>
          <a:p>
            <a:pPr>
              <a:spcAft>
                <a:spcPts val="600"/>
              </a:spcAft>
              <a:buChar char="•"/>
            </a:pPr>
            <a:r>
              <a:rPr sz="1700" b="0">
                <a:solidFill>
                  <a:srgbClr val="E8F0FF"/>
                </a:solidFill>
                <a:latin typeface="Calibri"/>
              </a:rPr>
              <a:t>Full CVs available upon request</a:t>
            </a:r>
          </a:p>
          <a:p>
            <a:pPr>
              <a:spcAft>
                <a:spcPts val="600"/>
              </a:spcAft>
              <a:buChar char="•"/>
            </a:pPr>
            <a:r>
              <a:rPr sz="1700" b="0">
                <a:solidFill>
                  <a:srgbClr val="E8F0FF"/>
                </a:solidFill>
                <a:latin typeface="Calibri"/>
              </a:rPr>
              <a:t>Contact: Jorge Juri — Project Manager · WhatsApp +1 778 835 3720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5448" y="201168"/>
            <a:ext cx="1179576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400" b="1">
                <a:solidFill>
                  <a:srgbClr val="141B26"/>
                </a:solidFill>
                <a:latin typeface="Calibri"/>
              </a:rPr>
              <a:t>Join us on this journey of innovation and digital transformation for your business</a:t>
            </a:r>
          </a:p>
        </p:txBody>
      </p:sp>
      <p:pic>
        <p:nvPicPr>
          <p:cNvPr id="3" name="Picture 2" descr="journe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22960"/>
            <a:ext cx="12191695" cy="51480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01752" y="61447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6676"/>
                </a:solidFill>
                <a:latin typeface="Calibri"/>
              </a:rPr>
              <a:t>Contact: Jorge Juri — Project Manager · WhatsApp +1 778 835 3720 · Sigma Digital Twins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