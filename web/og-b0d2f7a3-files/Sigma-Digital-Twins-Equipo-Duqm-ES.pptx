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Equipo Propuesto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Proyecto de Recuperación de Minerales — Duqm, Omán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C8D8F5"/>
                </a:solidFill>
                <a:latin typeface="Calibri"/>
              </a:rPr>
              <a:t>Estudio Conceptual + Ingeniería Básica · Julio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9FC1FF"/>
                </a:solidFill>
                <a:latin typeface="Calibri"/>
              </a:rPr>
              <a:t>Preparado por Jorge Juri · Hefesto AI  ·  Revisado por Mauricio Contreras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8D8F5"/>
                </a:solidFill>
                <a:latin typeface="Calibri"/>
              </a:rPr>
              <a:t>Confidencial — preparado para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Organigrama del equipo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8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Cliente — Omán (árabes)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vía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8" y="1344168"/>
            <a:ext cx="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8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8" y="2167128"/>
            <a:ext cx="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8" y="2395728"/>
            <a:ext cx="786384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Proyecto — Metalurgia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 (Messi)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Jefe de Mantenimiento y Confiabilidad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PMO con IA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7000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7000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2" y="3913632"/>
            <a:ext cx="2999232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2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4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8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6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400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Metalurgia · Experto Reciclaje · Asesor Medio Ambiente / HSEC — Omán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EE.UU.)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400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2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Diseñador Industrial 3D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2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4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Mantenimiento Mecánico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4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6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Analista de Calidad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6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400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Transversal: Legal / Compliance — Pertel Legal · Producción: dibujos, documentos, P&amp;IDs, cañería, 3D y paquete al cliente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2025 · Magíster en Automatización Industrial e Integración SCADA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 · Ingeniería Civil Industrial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2003–2005 · Ing. en Prevención de Riesgos y Medio Ambiente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1998–2002 · Ingeniero en Procesos Metalúrgicos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Minería de cobre y oro en Chile, Colombia y Australia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Operaciones de plantas concentradoras y procesos metalúrgicos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Mantenimiento industrial en equipos de gran minería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Proyectos de automatización y SCADA en plantas mineras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Seguridad industrial y gestión ambiental en faenas mineras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2022–2023 · Jefe de Acopio, Relaves y Aguas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2021–2022 · Supervisor General de Mantenimiento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2021 · Supervisor de Mantenimiento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2020–2021 · Administrador de Contrato, Operaciones Planta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2019–2020 · Administrador de Contrato, Operaciones Planta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2017–2019 · Supervisor de Operaciones Mina y Planta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2012–2014 · Jefe de Turno Planta &amp; Refinería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Liderazgo en operaciones mineras y mantenimiento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Gestión de proyectos en minería y plantas concentradoras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Optimización operacional y mejora de procesos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Control de costos y análisis de rentabilidad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Automatización y control de procesos (SCADA)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Normativas de seguridad y medio ambiente en minería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Dirige el estudio de punta a punta: ingeniero de procesos metalúrgicos con 20+ años operando y manteniendo plantas de gran minería.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Comisionamiento y puesta en marcha de plantas reales (filtrado, espesamiento, relaves): el estudio se diseña pensando en la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Interlocutor técnico único frente al cliente y los socios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Ingeniería de detalles y montaje de Espesador de Relaves HD — Capstone Copper, Mantos Blancos (proyecto 24-286): planificación, gestión y ejecución.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Optimización de plantas concentradoras: mejora de recuperación de minerales y reducción de costos vía control y automatización.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Comisionamiento y puesta en marcha de plantas de filtrado, espesamiento y relaves.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Gestión de proyectos mineros internacionales: minería subterránea y rajo abierto en Chile, Colombia y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PMO con IA — Autopilot (PM · Gemelo 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Vancouver, Canadá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 · Líder en Manufactura Avanzada — Canadá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2018 · Diplomado en Desarrollo de Aplicaciones Móviles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2014 · Ingeniería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2007 · Licenciatura en Ingeniería en Ciencias de la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Más de 20 años de experiencia en tecnología, en múltiples industrias y roles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4 años como consultor en operaciones y mejora continua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5 años desarrollando soluciones para agencias gubernamentales en Chile y Canadá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24 años proporcionando servicios tecnológicos de alta calidad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10 años como consultor en Canadá, en mercados globales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2020–2024 · Arquitecto de soluciones digitales — Digital Twin e IoT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2019 · Arquitecto de soluciones — smart devices y web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2012–2014 · Jefe del Departamento de Desarrollo y Mantenimiento de Software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2007–2011 · Líder de Desarrollo de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Mejora continua de procesos (Six Sigma y Lean)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Arquitecto de soluciones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Orquestación de SAP, SaaS, IA y sistemas heredados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Coaching en implementaciones tecnológicas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Reducción del 90% en correos y procesos innecesarios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PMO instrumentada con IA (Autopilot): actas, compromisos y seguimiento capturados en tiempo real — probado en la conformación de este mismo equipo.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Gemelo digital + IoT: la columna vertebral digital del estudio y de la futura planta.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Control documental y trazabilidad del paquete al cliente, con reducción drástica de fricción (−90% de correos innecesarios).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Digital Twins: simulación y optimización de procesos industriales, mejorando eficiencia y reduciendo riesgos operativos.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Seguridad y eficiencia en minería: realidad virtual para prevención de accidentes + herramientas de ahorro en compras e inventarios.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Cumplimiento legal y ambiental: automatización que posicionó a su equipo como líder en Latinoamérica en disponibilidad y transparencia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Soluciones móviles e IoT: control integral de procesos de producción en iOS, Apple Watch, Android y dispositivos IoT.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Jefe de Proyecto — Metalurgia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Mexicana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Santa Ana, Sonora, México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2005 · Doctorado en Materiales y Metalurgia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1998 · Maestría en Metalurgia Extractiva No Ferrosa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1992 · Ingeniería Química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30+ años en beneficio de minerales de Au / Ag / Cu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Hidrometalurgia de punta a punta: lixiviación estática y dinámica, ADR, Merrill-Crowe, electrodeposición,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7 años en planta de cemento: fly ash de ambos lados (lo producían con carbón → clínker y lo compraban de termoeléctricas)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Minería en Chile y México: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Recuperación desde residuos y minerales refractarios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2022–hoy · Consultor de procesos y metalurgia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2018–hoy · Asesor — HQ Metales / Concreto Lanzado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2012–2015 · Superintendente de Metalurgia y Remediación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Kinross Maricunga · Ingeniero de procesos senior y Superintendente de planta SART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Cananea · I+D en cobre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Ciclo de planta completo: del estudio geometalúrgico al diseño, construcción, puesta en marcha y optimización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Diseño de pruebas de lixiviación a nivel laboratorio y planta piloto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Diseño y rediseño de rutas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Colaboración en CAPEX y OPEX · reducción de consumo de reactivos (NaCN, cal, Zn)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Control de impurezas (sulfatos,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Formación de capital humano de alto nivel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Llegó con el diagnóstico hecho: lodos químicos ~24% Cu · fly ash (Zn 5,3%) · escoria — y una ruta esbozada: lixiviación H₂SO₄ → electroobtención, con el Fe removido por precipitación química (pH) antes del EW.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Metodología caracterización-primero: material → producto → variables → contaminantes → trazabilidad. «La fase de pruebas es donde se genera la tecnología.»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Contaminantes críticos mapeados por experiencia propia: As controlado a la entrada según normativa · V/Cr/Ni del fly ash (7 años manejando fly ash en cementera, de ambos lados).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Reencuadre económico del proyecto: «la materia prima es costo cero» — el pasivo ambiental se transforma en activo productivo.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Superintendente de planta SART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Lixiviación dinámica de concentrados de pirita aurífera — Grupo Bacis · recuperación de plata en minerales refractarios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Remediación y reactivación de patios de lixiviación antiguos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Familias de procesos directamente aplicables a recuperación de metales desde residuos industriales.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Metalurgia · Experto Reciclaje · Asesor Medio Ambiente / HSEC — Omán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Estadounidense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Utah, EE.UU.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Inglés nativo · Español fluido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B.S. en Economía + B.A. en Español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Certificaciones: CMSP (2025) · HAZWOPER (2025) · Instructor MSHA (2024)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Auditor aprobado — Código Internacional del Cianuro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25+ años de HSE en minería: diseño → construcción → operaciones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Recuperación y reciclaje de metales · residuos peligrosos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Tratamiento de aguas (Fruta del Norte, Hermosa) · emisiones/baghouse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Golfo: assessments para contratista de Ma'aden (Arabia Saudita) · normativa MHRS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Cumplimiento multi-país: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2024–hoy · Consultor internacional HSE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 · Director EHS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2020–2023 · Director de HSE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2006–2010 · Director de Auditorías HSE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Evaluación de riesgos: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Análisis causa raíz: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Programas de residuos peligrosos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Auditorías HSE corporativas y de cumplimiento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Revisión HSE en fase de diseño e ingeniería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Calce 1:1 con la planta del proyecto: 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Permisología y cumplimiento del Golfo: Ma'aden (Arabia Saudita) y normativa MHRS · residuos peligrosos (HAZWOPER) · tratamiento de aguas y emisiones.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Bilingüe nativo EN/ES: puente directo entre el equipo y el cliente/autoridades en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Dirigió HAZOPs y evaluaciones de riesgo de la planta de recuperación/reciclaje de cobre de Pinto Valley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Ma'aden (Arabia Saudita): sus recomendaciones llevaron al contratista a certificarse ISO 45001.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Resultados: −32% LTI y −34% TRI en Capstone · LTIFR −38% en Kinross · multas regulatorias −19% a −42%.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Cozamín: 0 fatalidades desde 2021 (histórico previo: 1 cada 2 años).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Carlos Ramírez Escobar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Jefe de Mantenimiento y Confiabilidad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Español · Inglés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2001 · Ingeniero Civil Industrial (Sistemas) — U. de Antofagasta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1996 · Diplomado en Ingeniería Industrial — U. de Antofagasta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1987 · Ingeniero de Ejecución Eléctrica — U. Católica de Valparaíso (PUCV)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Ing. de Ejecución Electrónica (PUCV) · Técnico en Electricidad y Electrónica — Valparaíso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35+ años en gran minería del cobre en Chile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Minera Escondida (BHP) · Teck (Quebrada Blanca, Carmen de Andacollo) · Kinross Maricunga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Collahuasi · Lumina Copper Caserones · Codelco Norte / Chuquicamata · Anglo American Los Bronces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Plantas concentradoras, SX-EW, hidrometalurgia, mina y plantas desaladoras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Consultoría en integridad de activos y confiabilidad 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2026–hoy · Consultor / Auditor / Líder de Gestión de Activos — Boston Consulting Group (BCG)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2021–hoy · Consultor / Auditor / Líder de Gestión de Activos — MaxAsset Dunamar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2022–2025 · Asesoría Experta Asset Integrity (330 activos críticos, FMECA / BowTie) — Torque Ing., Minera Escondida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2018–2019 · Gerente de Mantenimiento y Gestión de Activos — Lumina Copper Caserones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2012–2018 · Superintendente de Mantenimiento y Operaciones Mina / Planta (SX-EW) — Teck Quebrada Blanca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2008–2011 · Superintendente de Mantenimiento — Kinross Maricunga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1989–2006 · Líder de Proyectos e Ing. de Confiabilidad — Minera Escondida (BHP)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Ingeniería de Confiabilidad y Mantenibilidad (RCM, RCM2, análisis RAM)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Integridad de activos: FMECA · BowTie · RBI · ICAM · ISO 14224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Facilitador HAZOP / FMEA / RCM · análisis causa raíz (RCA)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Gestión de activos y planes maestros de mantenimiento (SAP, MIMS)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Six Sigma (Excelencia Operacional) · mejora continua · liderazgo de equipos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Restitución de activos críticos (MCR) y memorias de ingeniería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Autor del banco de preguntas técnicas de due diligence del proyecto: estructura la revisión material → producto → variables → contaminantes y posiciona al equipo como socio estratégico desde la ingeniería.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Integridad de activos desde el diseño: propone un Asset Integrity Management Plan (AIMP) integrando FMECA, RCM, RBI, RCA, BowTie e ISO 14224 para maximizar disponibilidad y minimizar riesgo operacional.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Seguridad de procesos (PSM) para una planta con ácido sulfúrico y metales pesados: HAZID / HAZOP / LOPA, clasificación de áreas peligrosas y análisis de consecuencias.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35+ años en gran minería (Escondida, Teck, Kinross): la mantenibilidad y la confiabilidad entran al estudio desde el día uno.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Memorias de Restitución de Activos (MCR): 330 activos críticos con FMECA / BowTie — concentradoras, cátodos y desaladoras (500–3000 l/s), Minera Escondida.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Auditoría de mantenimiento de activos: 300 procedimientos mecánicos, plantas concentradoras L1 / L2 y CLC — BHP Escondida.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Negociación e implementación de contrato integral de mantenimiento (Full MARC, Komatsu / Joy Global) — Lumina Copper Caserones.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Implementación de RCM2 y confiabilidad operacional — Escondida, Collahuasi y Anglo American Los Bronces.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Diseñador Industrial 3D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Español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2019 · Diseñador Industrial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5 años en diseño industrial para plantas de proceso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Siderurgia: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Ingeniería y piping industrial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Reality capture / scan-to-BIM en plantas existentes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SCL Ingeniería — proyectista piping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2020–2023 · CAP Acero, Huachipato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Piping industrial: modelado 3D, planos de fabricación, isométricos, MTO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Gestión BIM bajo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Escáner láser Leica RTC 360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Coordinación y detección de interferencias (clash detection)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Scan-to-BIM con escáner láser (Leica RTC 360): As-Built de la condición real de la planta — la base geométrica del gemelo digital.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Isométricos, MTO y clash detection (100% de interferencias críticas resueltas antes de fabricación): del conceptual al paquete constructible.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Disponible para viajar a Omán: habilita el levantamiento en terreno con escáner.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Gestión de CDE que redujo un 15% los tiempos de intercambio de información.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100% de interferencias críticas resueltas antes de fabricación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Modelos As-Built desde nube de puntos (scan-to-BIM) para plantas en operación.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Isométricos y listados de materiales para fabricación y montaje.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Mantenimiento Mecánico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Español · Inglés funcional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2017–2022 · Ingeniero Civil Mecánico — U. de La Serena (mejor egresado, promoción 2023)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2024–2025 · Diplomado en Gestión del Mantenimiento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2025– · Ingeniería Industrial (en curso) — IACC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Cursos: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Gran minería del cobre: Chuquicamata (Codelco) y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Plantas de chancado, molienda y clasificación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Mantenimiento estructural y mecánico de equipos de planta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Simulación computacional (CFD / elementos finitos)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mar–ago 2025 · Planificador de Mantenimiento de Planta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nov 2024–feb 2025 · Ingeniero en Control de Calidad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2023–2024 · Ing. Control de Calidad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Planificación diaria/semanal, contingencias, inventarios y repuestos críticos en SAP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Inspección de chancadores, bombas, molinos, harneros, correas e hidrociclones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Metrología en cambios de bombas y chancadores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Ansys (avanzado) · Fusion 360 (avanzado)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Disponibilidad inmediata · disponible para viajar a Omán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Mantiene los mismos equipos de una planta de recuperación de minerales: chancadores, molinos, bombas, harneros, hidrociclones y correas.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Planificación en SAP con inventarios y repuestos críticos: la mantenibilidad entra al estudio desde el diseño.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Power BI · Machine Learning · Ansys: perfil natural para mantenimiento predictivo sobre el gemelo digital · disponibilidad inmediata y viaja a Omán.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Planificación de mantenimiento con ventanas estratégicas para disponibilidad continua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Inspecciones operacionales y de seguridad sobre los mismos equipos de una planta de recuperación de minerales.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Montaje de cubiertas en correas transportadoras y reparaciones estructurales en tripper y galerías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Perfil CAD/simulación con afinidad natural al enfoque de gemelos digitales de Sigma.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Analista de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Resumen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Nacionalidad: Chilena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Residencia: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IDIOMAS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Español · Inglés intermedio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EDUCACIÓN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2025 · Ingeniera Civil en Minas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Programa Inspira (Codelco) · Liderazgo para la Minería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POR INDUSTRIA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Gran minería del cobre: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Despacho (dispatch) de rajos: Esperanza, Encuentro y Tesoro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Inspección estructural en faena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Estandarización de procesos operacionales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EXPERIENCIA PROFESIONAL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feb–nov 2025 · Memorista, Despacho — AMSA Minera Centinela: gestión del movimiento de material y KPIs operacionales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feb–abr 2024 · Práctica profesional — Centinela: inspección estructural, levantamiento y seguimiento de observaciones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COMPETENCIAS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Estandarización y sistematización de procedimientos críticos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Verificación de condiciones y cumplimiento de estándares (ciclo QA)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Seguimiento de KPIs para la toma de decisiones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(básico)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Disponibilidad inmediata,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E7C5A"/>
                </a:solidFill>
                <a:latin typeface="Calibri"/>
              </a:rPr>
              <a:t>🎯 APORTE AL PROYECTO — DUQM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QA de entregables de ingeniería (planos, P&amp;IDs, dossiers): nada sale al cliente sin pasar el ciclo de calidad.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Especialista en estandarización de procedimientos críticos — convierte el conocimiento del equipo en documentos objetivos y repetibles.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Disponibilidad inmediata full-time · afinidad con gemelos digitales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Calibri"/>
              </a:rPr>
              <a:t>PROYECTOS CLAVE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Memoria: estandarización de procesos operacionales en despacho — identificación y sistematización de procedimientos críticos.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Despacho tecnológico: coordinación de equipos, monitoreo continuo de presión/temperatura de neumáticos y detección oportuna de fallas.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Inspección estructural bajo estándares de seguridad: registro y seguimiento de observaciones (puro ciclo de control de calidad).</a:t>
            </a:r>
          </a:p>
          <a:p>
            <a:pPr>
              <a:spcAft>
                <a:spcPts val="200"/>
              </a:spcAft>
              <a:buChar char="•"/>
            </a:pPr>
            <a:r>
              <a:rPr sz="1200" b="0">
                <a:solidFill>
                  <a:srgbClr val="141B26"/>
                </a:solidFill>
                <a:latin typeface="Calibri"/>
              </a:rPr>
              <a:t>Afinidad con gemelos digitales: RockVision D-Twin.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Próximos pasos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Equipo consolidado: todos se conocen y han trabajado juntos en diversos proyectos durante años.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Equipo disponible para arranque en agosto 2026.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Minutas de discusión por integrante disponibles a pedido: preguntas y respuestas, niveles de conocimiento y aportes al proyecto.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CVs completos disponibles a pedido.</a:t>
            </a:r>
          </a:p>
          <a:p>
            <a:pPr>
              <a:spcAft>
                <a:spcPts val="800"/>
              </a:spcAft>
              <a:buChar char="•"/>
            </a:pPr>
            <a:r>
              <a:rPr sz="1600" b="0">
                <a:solidFill>
                  <a:srgbClr val="E8F0FF"/>
                </a:solidFill>
                <a:latin typeface="Calibri"/>
              </a:rPr>
              <a:t>Contacto: Jorge Juri — Project Manager · WhatsApp +1 778 835 3720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