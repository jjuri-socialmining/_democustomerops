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9FC1FF"/>
                </a:solidFill>
                <a:latin typeface="Calibri"/>
              </a:rPr>
              <a:t>SIGMA DIGITAL TWINS</a:t>
            </a:r>
          </a:p>
          <a:p>
            <a:pPr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Equipo Propuesto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Proyecto de Recuperación de Minerales — Duqm, Omán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C8D8F5"/>
                </a:solidFill>
                <a:latin typeface="Calibri"/>
              </a:rPr>
              <a:t>Estudio Conceptual + Ingeniería Básica · Julio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8D8F5"/>
                </a:solidFill>
                <a:latin typeface="Calibri"/>
              </a:rPr>
              <a:t>Confidencial — preparado para HLC / Tonino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0B3D91"/>
                </a:solidFill>
                <a:latin typeface="Calibri"/>
              </a:rPr>
              <a:t>Organigrama del equipo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632807" y="868680"/>
            <a:ext cx="29260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40000" rIns="40000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141B26"/>
                </a:solidFill>
                <a:latin typeface="Calibri"/>
              </a:rPr>
              <a:t>Cliente — Omán</a:t>
            </a:r>
          </a:p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676"/>
                </a:solidFill>
                <a:latin typeface="Calibri"/>
              </a:rPr>
              <a:t>vía HLC · Tonino (sponsor)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95847.5" y="1435608"/>
            <a:ext cx="0.0" cy="164592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632807" y="1600200"/>
            <a:ext cx="29260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40000" rIns="40000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141B26"/>
                </a:solidFill>
                <a:latin typeface="Calibri"/>
              </a:rPr>
              <a:t>Jefe de Proyecto</a:t>
            </a:r>
          </a:p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676"/>
                </a:solidFill>
                <a:latin typeface="Calibri"/>
              </a:rPr>
              <a:t>Mauricio Contreras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.5" y="2167128"/>
            <a:ext cx="0.0" cy="164592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632807" y="2331720"/>
            <a:ext cx="29260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40000" rIns="40000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141B26"/>
                </a:solidFill>
                <a:latin typeface="Calibri"/>
              </a:rPr>
              <a:t>Project Manager (+ AI)</a:t>
            </a:r>
          </a:p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676"/>
                </a:solidFill>
                <a:latin typeface="Calibri"/>
              </a:rPr>
              <a:t>Jorge Juri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.5" y="2898648"/>
            <a:ext cx="0.0" cy="27432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36295" y="3172968"/>
            <a:ext cx="26974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40000" rIns="40000"/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141B26"/>
                </a:solidFill>
                <a:latin typeface="Calibri"/>
              </a:rPr>
              <a:t>Procesos / Metalurgia</a:t>
            </a:r>
          </a:p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676"/>
                </a:solidFill>
                <a:latin typeface="Calibri"/>
              </a:rPr>
              <a:t>Luis E. García Medina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3503" y="3172968"/>
            <a:ext cx="26974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40000" rIns="40000"/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141B26"/>
                </a:solidFill>
                <a:latin typeface="Calibri"/>
              </a:rPr>
              <a:t>Mant. / Equipos / Eléctrica + Instrum.</a:t>
            </a:r>
          </a:p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676"/>
                </a:solidFill>
                <a:latin typeface="Calibri"/>
              </a:rPr>
              <a:t>Juan Carlos Ramírez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0711" y="3172968"/>
            <a:ext cx="26974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40000" rIns="40000"/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141B26"/>
                </a:solidFill>
                <a:latin typeface="Calibri"/>
              </a:rPr>
              <a:t>Planificación de Mantenimiento</a:t>
            </a:r>
          </a:p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676"/>
                </a:solidFill>
                <a:latin typeface="Calibri"/>
              </a:rPr>
              <a:t>Ángelo Urrutia Tapia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7919" y="3172968"/>
            <a:ext cx="26974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40000" rIns="40000"/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141B26"/>
                </a:solidFill>
                <a:latin typeface="Calibri"/>
              </a:rPr>
              <a:t>Proyectista / BIM Manager — Piping</a:t>
            </a:r>
          </a:p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676"/>
                </a:solidFill>
                <a:latin typeface="Calibri"/>
              </a:rPr>
              <a:t>Juan Pablo Hidalgo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6295" y="4014216"/>
            <a:ext cx="26974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40000" rIns="40000"/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141B26"/>
                </a:solidFill>
                <a:latin typeface="Calibri"/>
              </a:rPr>
              <a:t>Asesor HSE / Medio Ambiente</a:t>
            </a:r>
          </a:p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676"/>
                </a:solidFill>
                <a:latin typeface="Calibri"/>
              </a:rPr>
              <a:t>Kent Christie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3503" y="4014216"/>
            <a:ext cx="26974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40000" rIns="40000"/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141B26"/>
                </a:solidFill>
                <a:latin typeface="Calibri"/>
              </a:rPr>
              <a:t>Calidad (QA)</a:t>
            </a:r>
          </a:p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676"/>
                </a:solidFill>
                <a:latin typeface="Calibri"/>
              </a:rPr>
              <a:t>Paloma Tapia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0711" y="4014216"/>
            <a:ext cx="26974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40000" rIns="40000"/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141B26"/>
                </a:solidFill>
                <a:latin typeface="Calibri"/>
              </a:rPr>
              <a:t>Constructor de Procesos</a:t>
            </a:r>
          </a:p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676"/>
                </a:solidFill>
                <a:latin typeface="Calibri"/>
              </a:rPr>
              <a:t>Luis F. Hidalgo Cortés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7919" y="4014216"/>
            <a:ext cx="26974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40000" rIns="40000"/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141B26"/>
                </a:solidFill>
                <a:latin typeface="Calibri"/>
              </a:rPr>
              <a:t>Experto Reciclaje</a:t>
            </a:r>
          </a:p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676"/>
                </a:solidFill>
                <a:latin typeface="Calibri"/>
              </a:rPr>
              <a:t>senior · EE.UU.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6295" y="4919472"/>
            <a:ext cx="11119104" cy="45720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B6676"/>
                </a:solidFill>
                <a:latin typeface="Calibri"/>
              </a:rPr>
              <a:t>Transversal: Legal / Compliance — Pertel Legal · Producción: dibujos, documentos, P&amp;IDs, cañería, 3D y paquete al cliente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Mauricio Contreras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Jefe de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0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00" b="0">
                <a:solidFill>
                  <a:srgbClr val="C8D8F5"/>
                </a:solidFill>
                <a:latin typeface="Calibri"/>
              </a:rPr>
              <a:t>Residencia: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48640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8016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 · Inglés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65960"/>
            <a:ext cx="2971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2025 · Magíster en Automatización Industrial e Integración SCADA — U. de Loja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2024 · Ingeniería Civil Industrial — U. de las Américas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2003–2005 · Ing. en Prevención de Riesgos y Medio Ambiente — U. de Aconcagua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1998–2002 · Ingeniero en Procesos Metalúrgicos — U. de Santiago de Chile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069080"/>
            <a:ext cx="2971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Minería de cobre y oro en Chile, Colombia y Australia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Operaciones de plantas concentradoras y procesos metalúrgicos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Mantenimiento industrial en equipos de gran minería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Proyectos de automatización y SCADA en plantas mineras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Seguridad industrial y gestión ambiental en faenas mineras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34440"/>
            <a:ext cx="41148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2022–2023 · Jefe de Acopio, Relaves y Aguas — Goldfields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2021–2022 · Supervisor General de Mantenimiento — FLSmidth, Minera Centinela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2021 · Supervisor de Mantenimiento — Macep (Teck Andacollo, Caserones, Sierra Gorda)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2020–2021 · Administrador de Contrato, Operaciones Planta — Collahuasi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2019–2020 · Administrador de Contrato, Operaciones Planta — Minera Zaldívar (AMSA)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2017–2019 · Supervisor de Operaciones Mina y Planta — Continental Gold, Buriticá (Colombia)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2012–2014 · Jefe de Turno Planta &amp; Refinería — Kinross Maricunga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20624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Liderazgo en operaciones mineras y mantenimiento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Gestión de proyectos en minería y plantas concentradoras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Optimización operacional y mejora de procesos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Control de costos y análisis de rentabilidad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Mantenimiento predictivo y correctivo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Automatización y control de procesos (SCADA)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Normativas de seguridad y medio ambiente en minería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234440"/>
            <a:ext cx="38862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Ingeniería de detalles y montaje de Espesador de Relaves HD — Capstone Copper, Mantos Blancos (proyecto 24-286): planificación, gestión y ejecución.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Optimización de plantas concentradoras: mejora de recuperación de minerales y reducción de costos vía control y automatización.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Gestión de proyectos mineros internacionales: minería subterránea y rajo abierto en Chile, Colombia y Australia.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Modelos de simulación avanzados para evaluar escenarios operativos y reducir riesgos en producción minera.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Comisionamiento y puesta en marcha de plantas de filtrado, espesamiento y relaves.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Integración SCADA y control avanzado para confiabilidad en plantas de procesamiento.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Jorge Juri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Project Manager (+ AI · Gemelo 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0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00" b="0">
                <a:solidFill>
                  <a:srgbClr val="C8D8F5"/>
                </a:solidFill>
                <a:latin typeface="Calibri"/>
              </a:rPr>
              <a:t>Residencia: Vancouver, Canadá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48640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8016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 · Inglés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65960"/>
            <a:ext cx="2971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2024 · Líder en Manufactura Avanzada — Canadá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2018 · Diplomado en Desarrollo de Aplicaciones Móviles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2014 · Ingeniería Industrial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2007 · Licenciatura en Ingeniería en Ciencias de la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069080"/>
            <a:ext cx="2971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Más de 20 años de experiencia en tecnología, en múltiples industrias y roles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4 años como consultor en operaciones y mejora continua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5 años desarrollando soluciones para agencias gubernamentales en Chile y Canadá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24 años proporcionando servicios tecnológicos de alta calidad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10 años como consultor en Canadá, en mercados globales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34440"/>
            <a:ext cx="41148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2020–2024 · Arquitecto de soluciones digitales — Digital Twin e IoT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2019 · Arquitecto de soluciones — smart devices y web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2012–2014 · Jefe del Departamento de Desarrollo y Mantenimiento de Software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2007–2011 · Líder de Desarrollo de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20624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Mejora continua de procesos (Six Sigma y Lean)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Arquitecto de soluciones tecnológicas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Orquestación de SAP, SaaS, IA y sistemas heredados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Coaching en implementaciones tecnológicas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Reducción del 90% en correos y procesos innecesarios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234440"/>
            <a:ext cx="38862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Digital Twins: simulación y optimización de procesos industriales, mejorando eficiencia y reduciendo riesgos operativos.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Seguridad y eficiencia en minería: realidad virtual para prevención de accidentes + herramientas de ahorro en compras e inventarios.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Innovación en startups: aplicaciones móviles de vanguardia con IA y aprendizaje automático.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Cumplimiento legal y ambiental: automatización que posicionó a su equipo como líder en Latinoamérica en disponibilidad y transparencia de información.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Soluciones móviles e IoT: control integral de procesos de producción en iOS, Apple Watch, Android y dispositivos IoT.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Liderazgo en sector gubernamental: cargos de gestión en agencias de Canadá y Chile.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Luis Enrique García Medina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Procesos / Metalurgia senior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00" b="0">
                <a:solidFill>
                  <a:srgbClr val="C8D8F5"/>
                </a:solidFill>
                <a:latin typeface="Calibri"/>
              </a:rPr>
              <a:t>Nacionalidad: Mexicana</a:t>
            </a:r>
          </a:p>
          <a:p>
            <a:pPr algn="r">
              <a:spcAft>
                <a:spcPts val="200"/>
              </a:spcAft>
            </a:pPr>
            <a:r>
              <a:rPr sz="900" b="0">
                <a:solidFill>
                  <a:srgbClr val="C8D8F5"/>
                </a:solidFill>
                <a:latin typeface="Calibri"/>
              </a:rPr>
              <a:t>Residencia: Santa Ana, Sonora, México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48640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8016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65960"/>
            <a:ext cx="2971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2005 · Doctorado en Materiales y Metalurgia — CIMAV, Chihuahua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1998 · Maestría en Metalurgia Extractiva No Ferrosa — UNISON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1992 · Ingeniería Química — UNISON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069080"/>
            <a:ext cx="2971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30+ años en beneficio de minerales de Au / Ag / Cu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Hidrometalurgia de punta a punta: lixiviación estática y dinámica, ADR, Merrill-Crowe, electrodeposición, SART, SX-EW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Minería en Chile y México: Kinross, Goldcorp/Leagold, Timmins, Minefinders, Cananea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Recuperación desde residuos y minerales refractarios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Docencia: profesor Tec de Monterrey (materiales y manufactura)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34440"/>
            <a:ext cx="41148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2022–hoy · Consultor de procesos y metalurgia — LEGARMET &amp; PROCESS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2018–hoy · Asesor — HQ Metales / Concreto Lanzado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2012–2015 · Superintendente de Metalurgia y Remediación — Kinross La Coipa (Copiapó, Chile)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Kinross Maricunga · Ingeniero de procesos senior y Superintendente de planta SART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Goldcorp / Leagold Los Filos · Timmins · Minefinders Dolores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Cananea · I+D en cobre (SX-EW)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20624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Ciclo de planta completo: del estudio geometalúrgico al diseño, construcción, puesta en marcha y optimización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Diseño de pruebas de lixiviación a nivel laboratorio y planta piloto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Diseño y rediseño de rutas de proceso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Colaboración en CAPEX y OPEX · reducción de consumo de reactivos (NaCN, cal, Zn)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Control de impurezas (sulfatos, Cu, Zn, Fe)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Formación de capital humano de alto nivel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234440"/>
            <a:ext cx="38862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Superintendente de planta SART — Kinross Maricunga.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Lixiviación dinámica de concentrados de pirita aurífera — Grupo Bacis.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Recuperación de plata en minerales refractarios — Silvermex.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Arranque y estabilización de aglomeración de 800–1.000 t/h · estrategia de patios verano/invierno.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Remediación y reactivación de patios de lixiviación antiguos — Kinross La Coipa.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Familias de procesos directamente aplicables a recuperación de metales desde residuos industriales.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Kent Christie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Asesor HSE / Medio Ambiente — Metal Recovery &amp; Hazardous Waste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00" b="0">
                <a:solidFill>
                  <a:srgbClr val="C8D8F5"/>
                </a:solidFill>
                <a:latin typeface="Calibri"/>
              </a:rPr>
              <a:t>Nacionalidad: Estadounidense</a:t>
            </a:r>
          </a:p>
          <a:p>
            <a:pPr algn="r">
              <a:spcAft>
                <a:spcPts val="200"/>
              </a:spcAft>
            </a:pPr>
            <a:r>
              <a:rPr sz="900" b="0">
                <a:solidFill>
                  <a:srgbClr val="C8D8F5"/>
                </a:solidFill>
                <a:latin typeface="Calibri"/>
              </a:rPr>
              <a:t>Residencia: Utah, EE.UU.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48640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8016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Inglés nativo · Español fluido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65960"/>
            <a:ext cx="2971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B.S. en Economía + B.A. en Español — University of Utah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Certificaciones: CMSP (2025) · HAZWOPER (2025) · Instructor MSHA (2024)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Auditor aprobado — Código Internacional del Cianuro · ISO 14001 Lead Auditor · OSHA 30-hr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069080"/>
            <a:ext cx="2971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25+ años de HSE en minería: diseño → construcción → operaciones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Recuperación y reciclaje de metales · residuos peligrosos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Tratamiento de aguas (Fruta del Norte, Hermosa) · emisiones/baghouse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Golfo: assessments para contratista de Ma'aden (Arabia Saudita) · normativa MHRS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Cumplimiento multi-país: MSHA/OSHA (US) · SERNAGEOMIN (CL) · STPS (MX) · OSINERGMIN (PE) · MHRS (SA)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34440"/>
            <a:ext cx="41148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2024–hoy · Consultor internacional HSE — KC International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2024 · Director EHS — First Mode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2020–2023 · Director de HSE — Capstone Copper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2011–2018 · Director Safety &amp; Sustainability — Kinross Gold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2006–2010 · Director de Auditorías HSE — Barrick Gold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20624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Evaluación de riesgos: PHA · FMEA · HAZOP · RAMS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Análisis causa raíz: TapRoot, Ishikawa, Fault Tree · ICAM · CAPA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Programas de residuos peligrosos (HAZWOPER)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Auditorías HSE corporativas y de cumplimiento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Revisión HSE en fase de diseño e ingeniería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234440"/>
            <a:ext cx="38862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Dirigió HAZOPs y evaluaciones de riesgo de la planta de recuperación/reciclaje de cobre de Pinto Valley (Capstone).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Ma'aden (Arabia Saudita): sus recomendaciones llevaron al contratista a certificarse ISO 45001.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Resultados: −32% LTI y −34% TRI en Capstone · LTIFR −38% en Kinross · multas regulatorias −19% a −42%.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Cozamín: 0 fatalidades desde 2021 (histórico previo: 1 cada 2 años).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Tasiast (Mauritania): programas HSE en minera de oro de gran escala.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Juan Pablo Hidalgo Figueroa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Proyectista / BIM Manager — Piping &amp; Plant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0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00" b="0">
                <a:solidFill>
                  <a:srgbClr val="C8D8F5"/>
                </a:solidFill>
                <a:latin typeface="Calibri"/>
              </a:rPr>
              <a:t>Residencia: Concepción,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48640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8016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65960"/>
            <a:ext cx="2971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2019 · Diseñador Industrial — DUOC UC, Concepción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069080"/>
            <a:ext cx="2971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5 años en diseño industrial para plantas de proceso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Siderurgia: CAP Acero — Huachipato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Ingeniería y piping industrial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Reality capture / scan-to-BIM en plantas existentes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34440"/>
            <a:ext cx="41148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2026 · BIM Manager — Ingemecanic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SCL Ingeniería — proyectista piping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2020–2023 · CAP Acero, Huachipato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20624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Piping industrial: modelado 3D, planos de fabricación, isométricos, MTO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Gestión BIM bajo ISO 19650: CDE (Autodesk ACC), BEP / EIR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Revit · AutoCAD Plant 3D · Advance Steel · Tekla Structures · Navisworks Manage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Escáner láser Leica RTC 360 · FARO SCENE · Leica Cyclone · ReCap Pro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Coordinación y detección de interferencias (clash detection)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234440"/>
            <a:ext cx="38862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Gestión de CDE que redujo un 15% los tiempos de intercambio de información.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100% de interferencias críticas resueltas antes de fabricación (clash detection).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Modelos As-Built desde nube de puntos (scan-to-BIM) para plantas en operación.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Isométricos y listados de materiales para fabricación y montaje.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Ángelo Urrutia Tapia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Planificación de Mantenimiento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0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00" b="0">
                <a:solidFill>
                  <a:srgbClr val="C8D8F5"/>
                </a:solidFill>
                <a:latin typeface="Calibri"/>
              </a:rPr>
              <a:t>Residencia: La Serena,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48640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8016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 · Inglés funcional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65960"/>
            <a:ext cx="2971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2017–2022 · Ingeniero Civil Mecánico — U. de La Serena (mejor egresado, promoción 2023)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2024–2025 · Diplomado en Gestión del Mantenimiento — DuocUC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2025– · Ingeniería Industrial (en curso) — IACC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Cursos: Machine Learning (U. of London) · Power BI · SAP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069080"/>
            <a:ext cx="2971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Gran minería del cobre: Chuquicamata (Codelco) y Minera Zaldívar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Plantas de chancado, molienda y clasificación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Mantenimiento estructural y mecánico de equipos de planta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Simulación computacional (CFD / elementos finitos)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34440"/>
            <a:ext cx="41148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mar–ago 2025 · Planificador de Mantenimiento de Planta — Berliam SPA, Chuquicamata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nov 2024–feb 2025 · Ingeniero en Control de Calidad — Berliam SPA, Chuquicamata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2023–2024 · Ing. Control de Calidad / Supervisor — GMT Ltda, Minera Zaldívar (+ CMP Los Colorados)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20624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Planificación diaria/semanal, contingencias, inventarios y repuestos críticos en SAP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Inspección de chancadores, bombas, molinos, harneros, correas e hidrociclones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Metrología en cambios de bombas y chancadores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Ansys (avanzado) · Fusion 360 (avanzado) · AutoCAD · Inventor · MS Project · Power BI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Disponibilidad inmediata · disponible para viajar a Omán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234440"/>
            <a:ext cx="38862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Planificación de mantenimiento con ventanas estratégicas para disponibilidad continua — Chuquicamata.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Inspecciones operacionales y de seguridad sobre los mismos equipos de una planta de recuperación de minerales.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Montaje de cubiertas en correas transportadoras y reparaciones estructurales en tripper y galerías — Zaldívar / CMP.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Reportabilidad a la mandante y supervisión en terreno.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Perfil CAD/simulación con afinidad natural al enfoque de gemelos digitales de Sigma.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3152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Paloma Tapia Guerrero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Calidad (QA)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0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00" b="0">
                <a:solidFill>
                  <a:srgbClr val="C8D8F5"/>
                </a:solidFill>
                <a:latin typeface="Calibri"/>
              </a:rPr>
              <a:t>Residencia: Coquimbo,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48640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8016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 · Inglés intermedio (B1)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65960"/>
            <a:ext cx="2971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2025 · Ingeniera Civil en Minas — Pontificia U. Católica de Valparaíso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Programa Inspira (Codelco) · Liderazgo para la Minería (PUCV) · Minería Para Todos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069080"/>
            <a:ext cx="2971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Gran minería del cobre: Antofagasta Minerals — Minera Centinela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Despacho (dispatch) de rajos: Esperanza, Encuentro y Tesoro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Inspección estructural en faena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Estandarización de procesos operacionales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34440"/>
            <a:ext cx="41148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feb–nov 2025 · Memorista, Despacho — AMSA Minera Centinela: gestión del movimiento de material y KPIs operacionales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feb–abr 2024 · Práctica profesional — Centinela: inspección estructural, levantamiento y seguimiento de observaciones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20624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Estandarización y sistematización de procedimientos críticos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Verificación de condiciones y cumplimiento de estándares (ciclo QA)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Seguimiento de KPIs para la toma de decisiones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Maptek Vulcan · AutoCAD · Ventsim · Power BI · Orchestra · JigSaw · RockVision D-Twin (básico)</a:t>
            </a:r>
          </a:p>
          <a:p>
            <a:pPr>
              <a:spcAft>
                <a:spcPts val="200"/>
              </a:spcAft>
              <a:buChar char="•"/>
            </a:pPr>
            <a:r>
              <a:rPr sz="900" b="0">
                <a:solidFill>
                  <a:srgbClr val="141B26"/>
                </a:solidFill>
                <a:latin typeface="Calibri"/>
              </a:rPr>
              <a:t>Disponibilidad inmediata, full-time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234440"/>
            <a:ext cx="38862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Memoria: estandarización de procesos operacionales en despacho — identificación y sistematización de procedimientos críticos.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Despacho tecnológico: coordinación de equipos, monitoreo continuo de presión/temperatura de neumáticos y detección oportuna de fallas.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Inspección estructural bajo estándares de seguridad: registro y seguimiento de observaciones (puro ciclo de control de calidad).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Afinidad con gemelos digitales: RockVision D-Twin.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9FC1FF"/>
                </a:solidFill>
                <a:latin typeface="Calibri"/>
              </a:rPr>
              <a:t>SIGMA DIGITAL TWINS</a:t>
            </a:r>
          </a:p>
          <a:p>
            <a:pPr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Próximos pasos</a:t>
            </a:r>
          </a:p>
          <a:p>
            <a:pPr>
              <a:spcAft>
                <a:spcPts val="600"/>
              </a:spcAft>
              <a:buChar char="•"/>
            </a:pPr>
            <a:r>
              <a:rPr sz="1600" b="0">
                <a:solidFill>
                  <a:srgbClr val="E8F0FF"/>
                </a:solidFill>
                <a:latin typeface="Calibri"/>
              </a:rPr>
              <a:t>Equipo disponible para arranque en agosto 2026</a:t>
            </a:r>
          </a:p>
          <a:p>
            <a:pPr>
              <a:spcAft>
                <a:spcPts val="600"/>
              </a:spcAft>
              <a:buChar char="•"/>
            </a:pPr>
            <a:r>
              <a:rPr sz="1600" b="0">
                <a:solidFill>
                  <a:srgbClr val="E8F0FF"/>
                </a:solidFill>
                <a:latin typeface="Calibri"/>
              </a:rPr>
              <a:t>CVs completos disponibles a pedido</a:t>
            </a:r>
          </a:p>
          <a:p>
            <a:pPr>
              <a:spcAft>
                <a:spcPts val="600"/>
              </a:spcAft>
              <a:buChar char="•"/>
            </a:pPr>
            <a:r>
              <a:rPr sz="1600" b="0">
                <a:solidFill>
                  <a:srgbClr val="E8F0FF"/>
                </a:solidFill>
                <a:latin typeface="Calibri"/>
              </a:rPr>
              <a:t>Contacto: Jorge Juri — Project Manager · WhatsApp +1 778 835 3720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